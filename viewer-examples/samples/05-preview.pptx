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1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2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3.xml" ContentType="application/vnd.openxmlformats-officedocument.presentationml.tag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3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9" r:id="rId17"/>
    <p:sldId id="280" r:id="rId18"/>
    <p:sldId id="272" r:id="rId19"/>
    <p:sldId id="282" r:id="rId20"/>
    <p:sldId id="273" r:id="rId21"/>
    <p:sldId id="281" r:id="rId22"/>
    <p:sldId id="274" r:id="rId23"/>
    <p:sldId id="275" r:id="rId24"/>
    <p:sldId id="276" r:id="rId25"/>
    <p:sldId id="277" r:id="rId26"/>
    <p:sldId id="278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82"/>
    <p:restoredTop sz="94864"/>
  </p:normalViewPr>
  <p:slideViewPr>
    <p:cSldViewPr snapToGrid="0" snapToObjects="1">
      <p:cViewPr varScale="1">
        <p:scale>
          <a:sx n="125" d="100"/>
          <a:sy n="125" d="100"/>
        </p:scale>
        <p:origin x="160" y="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5.xml"/><Relationship Id="rId1" Type="http://schemas.microsoft.com/office/2011/relationships/chartStyle" Target="style5.xml"/><Relationship Id="rId5" Type="http://schemas.openxmlformats.org/officeDocument/2006/relationships/oleObject" Target="file:////Users\guagu\Documents\01%252520&#39033;&#30446;&#31649;&#29702;\21-01%252520&#25307;&#21830;&#34503;&#21475;&#22823;&#20250;&#21592;&#39033;&#30446;\23&#24180;&#25307;&#21830;&#36816;&#32500;&#39564;&#25910;\&#12304;CMSK&#12305;&#25307;&#21830;&#33631;&#36816;&#32500;&#32676;&#38382;&#39064;&#36319;&#36827;1219-1%252520.xlsx" TargetMode="External"/><Relationship Id="rId4" Type="http://schemas.openxmlformats.org/officeDocument/2006/relationships/image" Target="../media/image16.png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6.xml"/><Relationship Id="rId1" Type="http://schemas.microsoft.com/office/2011/relationships/chartStyle" Target="style6.xml"/><Relationship Id="rId5" Type="http://schemas.openxmlformats.org/officeDocument/2006/relationships/oleObject" Target="file:////Users\guagu\Documents\01%252520&#39033;&#30446;&#31649;&#29702;\21-01%252520&#25307;&#21830;&#34503;&#21475;&#22823;&#20250;&#21592;&#39033;&#30446;\23&#24180;&#25307;&#21830;&#36816;&#32500;&#39564;&#25910;\&#12304;CMSK&#12305;&#25307;&#21830;&#33631;&#36816;&#32500;&#32676;&#38382;&#39064;&#36319;&#36827;1219-1%252520.xlsx" TargetMode="External"/><Relationship Id="rId4" Type="http://schemas.openxmlformats.org/officeDocument/2006/relationships/image" Target="../media/image16.png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/Users\guagu\Documents\01%252520&#39033;&#30446;&#31649;&#29702;\21-01%252520&#25307;&#21830;&#34503;&#21475;&#22823;&#20250;&#21592;&#39033;&#30446;\23&#24180;&#25307;&#21830;&#36816;&#32500;&#39564;&#25910;\&#12304;CMSK&#12305;&#25307;&#21830;&#33631;&#36816;&#32500;&#32676;&#38382;&#39064;&#36319;&#36827;1219-1%252520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15" b="0" i="0" u="none" strike="noStrike" kern="1200" cap="all" spc="0" baseline="0">
                <a:gradFill>
                  <a:gsLst>
                    <a:gs pos="0">
                      <a:schemeClr val="dk1">
                        <a:lumMod val="50000"/>
                        <a:lumOff val="50000"/>
                      </a:schemeClr>
                    </a:gs>
                    <a:gs pos="100000">
                      <a:schemeClr val="dk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pPr>
            <a:r>
              <a:rPr lang="en-US"/>
              <a:t>Line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15" b="0" i="0" u="none" strike="noStrike" kern="1200" cap="all" spc="0" baseline="0">
              <a:gradFill>
                <a:gsLst>
                  <a:gs pos="0">
                    <a:schemeClr val="dk1">
                      <a:lumMod val="50000"/>
                      <a:lumOff val="50000"/>
                    </a:schemeClr>
                  </a:gs>
                  <a:gs pos="100000">
                    <a:schemeClr val="dk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+mn-lt"/>
              <a:ea typeface="+mn-ea"/>
              <a:cs typeface="+mn-cs"/>
            </a:defRPr>
          </a:pPr>
          <a:endParaRPr lang="en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spPr>
            <a:ln w="19050" cap="rnd" cmpd="sng" algn="ctr">
              <a:solidFill>
                <a:schemeClr val="accent1">
                  <a:shade val="95000"/>
                  <a:satMod val="105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</c:v>
                </c:pt>
                <c:pt idx="1">
                  <c:v>4.2</c:v>
                </c:pt>
                <c:pt idx="2">
                  <c:v>5</c:v>
                </c:pt>
                <c:pt idx="3">
                  <c:v>4.5999999999999996</c:v>
                </c:pt>
                <c:pt idx="4">
                  <c:v>5.8</c:v>
                </c:pt>
                <c:pt idx="5">
                  <c:v>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72-CF40-AE2E-DDCF88D9E15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3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2118791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15" b="0" i="0" u="none" strike="noStrike" kern="1200" cap="all" spc="0" baseline="0">
                <a:gradFill>
                  <a:gsLst>
                    <a:gs pos="0">
                      <a:schemeClr val="dk1">
                        <a:lumMod val="50000"/>
                        <a:lumOff val="50000"/>
                      </a:schemeClr>
                    </a:gs>
                    <a:gs pos="100000">
                      <a:schemeClr val="dk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pPr>
            <a:r>
              <a:rPr lang="en-US" altLang="zh-CN" dirty="0"/>
              <a:t>Column</a:t>
            </a:r>
            <a:r>
              <a:rPr lang="en-US" dirty="0"/>
              <a:t>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15" b="0" i="0" u="none" strike="noStrike" kern="1200" cap="all" spc="0" baseline="0">
              <a:gradFill>
                <a:gsLst>
                  <a:gs pos="0">
                    <a:schemeClr val="dk1">
                      <a:lumMod val="50000"/>
                      <a:lumOff val="50000"/>
                    </a:schemeClr>
                  </a:gs>
                  <a:gs pos="100000">
                    <a:schemeClr val="dk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+mn-lt"/>
              <a:ea typeface="+mn-ea"/>
              <a:cs typeface="+mn-cs"/>
            </a:defRPr>
          </a:pPr>
          <a:endParaRPr lang="en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</c:v>
                </c:pt>
                <c:pt idx="1">
                  <c:v>4.2</c:v>
                </c:pt>
                <c:pt idx="2">
                  <c:v>5</c:v>
                </c:pt>
                <c:pt idx="3">
                  <c:v>4.5999999999999996</c:v>
                </c:pt>
                <c:pt idx="4">
                  <c:v>5.8</c:v>
                </c:pt>
                <c:pt idx="5">
                  <c:v>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72-CF40-AE2E-DDCF88D9E15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18791784"/>
        <c:axId val="2140495176"/>
      </c:bar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3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2118791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82416198449387E-2"/>
          <c:y val="3.951285132420107E-2"/>
          <c:w val="0.89495740515505862"/>
          <c:h val="0.81362295183244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月活数量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2023-1</c:v>
                </c:pt>
                <c:pt idx="1">
                  <c:v>2023-2</c:v>
                </c:pt>
                <c:pt idx="2">
                  <c:v>2023-3</c:v>
                </c:pt>
                <c:pt idx="3">
                  <c:v>2023-4</c:v>
                </c:pt>
                <c:pt idx="4">
                  <c:v>2023-5</c:v>
                </c:pt>
                <c:pt idx="5">
                  <c:v>2023-6</c:v>
                </c:pt>
                <c:pt idx="6">
                  <c:v>2023-7</c:v>
                </c:pt>
                <c:pt idx="7">
                  <c:v>2023-8</c:v>
                </c:pt>
                <c:pt idx="8">
                  <c:v>2023-9</c:v>
                </c:pt>
                <c:pt idx="9">
                  <c:v>2023-10</c:v>
                </c:pt>
                <c:pt idx="10">
                  <c:v>2023-11</c:v>
                </c:pt>
                <c:pt idx="11">
                  <c:v>2023-12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198185</c:v>
                </c:pt>
                <c:pt idx="1">
                  <c:v>212667</c:v>
                </c:pt>
                <c:pt idx="2">
                  <c:v>213976</c:v>
                </c:pt>
                <c:pt idx="3">
                  <c:v>197246</c:v>
                </c:pt>
                <c:pt idx="4">
                  <c:v>208399</c:v>
                </c:pt>
                <c:pt idx="5">
                  <c:v>239224</c:v>
                </c:pt>
                <c:pt idx="6">
                  <c:v>209412</c:v>
                </c:pt>
                <c:pt idx="7">
                  <c:v>230181</c:v>
                </c:pt>
                <c:pt idx="8">
                  <c:v>250709</c:v>
                </c:pt>
                <c:pt idx="9">
                  <c:v>210795</c:v>
                </c:pt>
                <c:pt idx="10">
                  <c:v>185788</c:v>
                </c:pt>
                <c:pt idx="11">
                  <c:v>243572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3B-2C4B-A0C2-DF6A152F84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54956336"/>
        <c:axId val="855533568"/>
      </c:barChart>
      <c:catAx>
        <c:axId val="854956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55533568"/>
        <c:crosses val="autoZero"/>
        <c:auto val="1"/>
        <c:lblAlgn val="ctr"/>
        <c:lblOffset val="100"/>
        <c:noMultiLvlLbl val="0"/>
      </c:catAx>
      <c:valAx>
        <c:axId val="855533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54956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Area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CN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26</c:v>
                </c:pt>
                <c:pt idx="2">
                  <c:v>22</c:v>
                </c:pt>
                <c:pt idx="3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FB-654E-AB24-B193CCFF7C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N"/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N"/>
          </a:p>
        </c:txPr>
        <c:crossAx val="-21011599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/>
              <a:t>问题类型数量统计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29466791393825997"/>
          <c:y val="0.186425541415495"/>
          <c:w val="0.42429506882266499"/>
          <c:h val="0.70886358562179097"/>
        </c:manualLayout>
      </c:layout>
      <c:pieChart>
        <c:varyColors val="1"/>
        <c:ser>
          <c:idx val="0"/>
          <c:order val="0"/>
          <c:tx>
            <c:strRef>
              <c:f>'[【CMSK】招商荟运维群问题跟进1219-1 .xlsx]Sheet2 (2)'!$D$6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rgbClr val="384C9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explosion val="8"/>
          <c:dPt>
            <c:idx val="0"/>
            <c:bubble3D val="0"/>
            <c:spPr>
              <a:solidFill>
                <a:srgbClr val="ECC6B8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31D-C444-9B2C-A959AC6DA4CA}"/>
              </c:ext>
            </c:extLst>
          </c:dPt>
          <c:dPt>
            <c:idx val="1"/>
            <c:bubble3D val="0"/>
            <c:spPr>
              <a:solidFill>
                <a:srgbClr val="B41D1E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31D-C444-9B2C-A959AC6DA4CA}"/>
              </c:ext>
            </c:extLst>
          </c:dPt>
          <c:dPt>
            <c:idx val="2"/>
            <c:bubble3D val="0"/>
            <c:spPr>
              <a:solidFill>
                <a:srgbClr val="7085C8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31D-C444-9B2C-A959AC6DA4CA}"/>
              </c:ext>
            </c:extLst>
          </c:dPt>
          <c:dPt>
            <c:idx val="3"/>
            <c:bubble3D val="0"/>
            <c:spPr>
              <a:solidFill>
                <a:srgbClr val="384C9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31D-C444-9B2C-A959AC6DA4CA}"/>
              </c:ext>
            </c:extLst>
          </c:dPt>
          <c:dPt>
            <c:idx val="4"/>
            <c:bubble3D val="0"/>
            <c:spPr>
              <a:solidFill>
                <a:srgbClr val="384C9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C31D-C444-9B2C-A959AC6DA4CA}"/>
              </c:ext>
            </c:extLst>
          </c:dPt>
          <c:dLbls>
            <c:dLbl>
              <c:idx val="1"/>
              <c:layout>
                <c:manualLayout>
                  <c:x val="-4.845557434925258E-2"/>
                  <c:y val="0.1161072074050566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31D-C444-9B2C-A959AC6DA4CA}"/>
                </c:ext>
              </c:extLst>
            </c:dLbl>
            <c:dLbl>
              <c:idx val="2"/>
              <c:layout>
                <c:manualLayout>
                  <c:x val="-7.9763452653418707E-2"/>
                  <c:y val="9.8329845948331149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31D-C444-9B2C-A959AC6DA4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1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'[【CMSK】招商荟运维群问题跟进1219-1 .xlsx]Sheet2 (2)'!$C$7:$C$11</c:f>
              <c:strCache>
                <c:ptCount val="5"/>
                <c:pt idx="0">
                  <c:v>bug</c:v>
                </c:pt>
                <c:pt idx="1">
                  <c:v>操作咨询</c:v>
                </c:pt>
                <c:pt idx="2">
                  <c:v>数据问题</c:v>
                </c:pt>
                <c:pt idx="3">
                  <c:v>优化需求</c:v>
                </c:pt>
                <c:pt idx="4">
                  <c:v>运维支持</c:v>
                </c:pt>
              </c:strCache>
            </c:strRef>
          </c:cat>
          <c:val>
            <c:numRef>
              <c:f>'[【CMSK】招商荟运维群问题跟进1219-1 .xlsx]Sheet2 (2)'!$D$7:$D$11</c:f>
              <c:numCache>
                <c:formatCode>General</c:formatCode>
                <c:ptCount val="5"/>
                <c:pt idx="0">
                  <c:v>5</c:v>
                </c:pt>
                <c:pt idx="1">
                  <c:v>31</c:v>
                </c:pt>
                <c:pt idx="2">
                  <c:v>35</c:v>
                </c:pt>
                <c:pt idx="3">
                  <c:v>1</c:v>
                </c:pt>
                <c:pt idx="4">
                  <c:v>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31D-C444-9B2C-A959AC6DA4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2.429611686516478E-2"/>
          <c:y val="0.12961574645964372"/>
          <c:w val="0.30878431372549014"/>
          <c:h val="0.3715926030926909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0"/>
  </c:chart>
  <c:spPr>
    <a:blipFill rotWithShape="1">
      <a:blip xmlns:r="http://schemas.openxmlformats.org/officeDocument/2006/relationships" r:embed="rId4"/>
      <a:stretch>
        <a:fillRect/>
      </a:stretch>
    </a:blipFill>
    <a:ln w="9525" cap="flat" cmpd="sng" algn="ctr">
      <a:solidFill>
        <a:srgbClr val="FF7000"/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5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/>
              <a:t>问题状态数量统计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29466791393825997"/>
          <c:y val="0.186425541415495"/>
          <c:w val="0.42429506882266499"/>
          <c:h val="0.70886358562179097"/>
        </c:manualLayout>
      </c:layout>
      <c:pieChart>
        <c:varyColors val="1"/>
        <c:ser>
          <c:idx val="0"/>
          <c:order val="0"/>
          <c:tx>
            <c:strRef>
              <c:f>'[【CMSK】招商荟运维群问题跟进1219-1 .xlsx]Sheet2'!$D$6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rgbClr val="384C9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explosion val="8"/>
          <c:dPt>
            <c:idx val="0"/>
            <c:bubble3D val="0"/>
            <c:spPr>
              <a:solidFill>
                <a:srgbClr val="1F497D">
                  <a:lumMod val="75000"/>
                </a:srgb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D16-CB42-B593-073C463AB71F}"/>
              </c:ext>
            </c:extLst>
          </c:dPt>
          <c:dPt>
            <c:idx val="1"/>
            <c:bubble3D val="0"/>
            <c:spPr>
              <a:solidFill>
                <a:srgbClr val="F7964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D16-CB42-B593-073C463AB71F}"/>
              </c:ext>
            </c:extLst>
          </c:dPt>
          <c:dPt>
            <c:idx val="2"/>
            <c:bubble3D val="0"/>
            <c:spPr>
              <a:solidFill>
                <a:srgbClr val="7085C8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D16-CB42-B593-073C463AB7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1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'[【CMSK】招商荟运维群问题跟进1219-1 .xlsx]Sheet2'!$C$7:$C$9</c:f>
              <c:strCache>
                <c:ptCount val="3"/>
                <c:pt idx="0">
                  <c:v>已处理</c:v>
                </c:pt>
                <c:pt idx="1">
                  <c:v>已关闭</c:v>
                </c:pt>
                <c:pt idx="2">
                  <c:v>无需处理</c:v>
                </c:pt>
              </c:strCache>
            </c:strRef>
          </c:cat>
          <c:val>
            <c:numRef>
              <c:f>'[【CMSK】招商荟运维群问题跟进1219-1 .xlsx]Sheet2'!$D$7:$D$9</c:f>
              <c:numCache>
                <c:formatCode>General</c:formatCode>
                <c:ptCount val="3"/>
                <c:pt idx="0">
                  <c:v>254</c:v>
                </c:pt>
                <c:pt idx="1">
                  <c:v>104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D16-CB42-B593-073C463AB7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1.60363490578645E-2"/>
          <c:y val="0.37620004465282397"/>
          <c:w val="0.30815337690631811"/>
          <c:h val="0.3462826523777630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0"/>
  </c:chart>
  <c:spPr>
    <a:blipFill rotWithShape="1">
      <a:blip xmlns:r="http://schemas.openxmlformats.org/officeDocument/2006/relationships" r:embed="rId4"/>
      <a:stretch>
        <a:fillRect/>
      </a:stretch>
    </a:blipFill>
    <a:ln w="9525" cap="flat" cmpd="sng" algn="ctr">
      <a:solidFill>
        <a:srgbClr val="FF7000"/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5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Scatter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1.8</c:v>
                </c:pt>
                <c:pt idx="1">
                  <c:v>2.5</c:v>
                </c:pt>
                <c:pt idx="2">
                  <c:v>2.9</c:v>
                </c:pt>
                <c:pt idx="3">
                  <c:v>3.7</c:v>
                </c:pt>
                <c:pt idx="4">
                  <c:v>4.2</c:v>
                </c:pt>
                <c:pt idx="5">
                  <c:v>4.9000000000000004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EF0-604E-866F-671AC3815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N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N"/>
          </a:p>
        </c:txPr>
        <c:crossAx val="-2128940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运维问题数量统计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'[【CMSK】招商荟运维群问题跟进1219-1 .xlsx]Sheet3'!$B$25</c:f>
              <c:strCache>
                <c:ptCount val="1"/>
                <c:pt idx="0">
                  <c:v>bug</c:v>
                </c:pt>
              </c:strCache>
            </c:strRef>
          </c:tx>
          <c:spPr>
            <a:ln w="19050" cap="flat" cmpd="sng">
              <a:solidFill>
                <a:schemeClr val="accent1"/>
              </a:solidFill>
              <a:round/>
              <a:tailEnd type="none"/>
            </a:ln>
            <a:effectLst>
              <a:outerShdw blurRad="50800" dist="38100" dir="2700000" algn="tl" rotWithShape="0">
                <a:schemeClr val="accent1">
                  <a:lumMod val="50000"/>
                  <a:alpha val="40000"/>
                </a:schemeClr>
              </a:outerShdw>
            </a:effectLst>
          </c:spPr>
          <c:marker>
            <c:symbol val="none"/>
          </c:marker>
          <c:cat>
            <c:strRef>
              <c:f>'[【CMSK】招商荟运维群问题跟进1219-1 .xlsx]Sheet3'!$A$26:$A$38</c:f>
              <c:strCache>
                <c:ptCount val="13"/>
                <c:pt idx="0">
                  <c:v>2022-12</c:v>
                </c:pt>
                <c:pt idx="1">
                  <c:v>2023-1</c:v>
                </c:pt>
                <c:pt idx="2">
                  <c:v>2023-2</c:v>
                </c:pt>
                <c:pt idx="3">
                  <c:v>2023-3</c:v>
                </c:pt>
                <c:pt idx="4">
                  <c:v>2023-4</c:v>
                </c:pt>
                <c:pt idx="5">
                  <c:v>2023-5</c:v>
                </c:pt>
                <c:pt idx="6">
                  <c:v>2023-6</c:v>
                </c:pt>
                <c:pt idx="7">
                  <c:v>2023-7</c:v>
                </c:pt>
                <c:pt idx="8">
                  <c:v>2023-8</c:v>
                </c:pt>
                <c:pt idx="9">
                  <c:v>2023-9</c:v>
                </c:pt>
                <c:pt idx="10">
                  <c:v>2023-10</c:v>
                </c:pt>
                <c:pt idx="11">
                  <c:v>2023-11</c:v>
                </c:pt>
                <c:pt idx="12">
                  <c:v>2023-12</c:v>
                </c:pt>
              </c:strCache>
            </c:strRef>
          </c:cat>
          <c:val>
            <c:numRef>
              <c:f>'[【CMSK】招商荟运维群问题跟进1219-1 .xlsx]Sheet3'!$B$26:$B$38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1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8FB-6141-8AC9-8E00020ED7D1}"/>
            </c:ext>
          </c:extLst>
        </c:ser>
        <c:ser>
          <c:idx val="1"/>
          <c:order val="1"/>
          <c:tx>
            <c:strRef>
              <c:f>'[【CMSK】招商荟运维群问题跟进1219-1 .xlsx]Sheet3'!$C$25</c:f>
              <c:strCache>
                <c:ptCount val="1"/>
                <c:pt idx="0">
                  <c:v>操作咨询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  <a:tailEnd type="none"/>
            </a:ln>
            <a:effectLst>
              <a:outerShdw blurRad="50800" dist="38100" dir="2700000" algn="tl" rotWithShape="0">
                <a:schemeClr val="accent2">
                  <a:lumMod val="50000"/>
                  <a:alpha val="40000"/>
                </a:schemeClr>
              </a:outerShdw>
            </a:effectLst>
          </c:spPr>
          <c:marker>
            <c:symbol val="none"/>
          </c:marker>
          <c:cat>
            <c:strRef>
              <c:f>'[【CMSK】招商荟运维群问题跟进1219-1 .xlsx]Sheet3'!$A$26:$A$38</c:f>
              <c:strCache>
                <c:ptCount val="13"/>
                <c:pt idx="0">
                  <c:v>2022-12</c:v>
                </c:pt>
                <c:pt idx="1">
                  <c:v>2023-1</c:v>
                </c:pt>
                <c:pt idx="2">
                  <c:v>2023-2</c:v>
                </c:pt>
                <c:pt idx="3">
                  <c:v>2023-3</c:v>
                </c:pt>
                <c:pt idx="4">
                  <c:v>2023-4</c:v>
                </c:pt>
                <c:pt idx="5">
                  <c:v>2023-5</c:v>
                </c:pt>
                <c:pt idx="6">
                  <c:v>2023-6</c:v>
                </c:pt>
                <c:pt idx="7">
                  <c:v>2023-7</c:v>
                </c:pt>
                <c:pt idx="8">
                  <c:v>2023-8</c:v>
                </c:pt>
                <c:pt idx="9">
                  <c:v>2023-9</c:v>
                </c:pt>
                <c:pt idx="10">
                  <c:v>2023-10</c:v>
                </c:pt>
                <c:pt idx="11">
                  <c:v>2023-11</c:v>
                </c:pt>
                <c:pt idx="12">
                  <c:v>2023-12</c:v>
                </c:pt>
              </c:strCache>
            </c:strRef>
          </c:cat>
          <c:val>
            <c:numRef>
              <c:f>'[【CMSK】招商荟运维群问题跟进1219-1 .xlsx]Sheet3'!$C$26:$C$38</c:f>
              <c:numCache>
                <c:formatCode>General</c:formatCode>
                <c:ptCount val="13"/>
                <c:pt idx="0">
                  <c:v>0</c:v>
                </c:pt>
                <c:pt idx="1">
                  <c:v>6</c:v>
                </c:pt>
                <c:pt idx="2">
                  <c:v>7</c:v>
                </c:pt>
                <c:pt idx="3">
                  <c:v>4</c:v>
                </c:pt>
                <c:pt idx="4">
                  <c:v>3</c:v>
                </c:pt>
                <c:pt idx="5">
                  <c:v>1</c:v>
                </c:pt>
                <c:pt idx="6">
                  <c:v>0</c:v>
                </c:pt>
                <c:pt idx="7">
                  <c:v>3</c:v>
                </c:pt>
                <c:pt idx="8">
                  <c:v>6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8FB-6141-8AC9-8E00020ED7D1}"/>
            </c:ext>
          </c:extLst>
        </c:ser>
        <c:ser>
          <c:idx val="2"/>
          <c:order val="2"/>
          <c:tx>
            <c:strRef>
              <c:f>'[【CMSK】招商荟运维群问题跟进1219-1 .xlsx]Sheet3'!$D$25</c:f>
              <c:strCache>
                <c:ptCount val="1"/>
                <c:pt idx="0">
                  <c:v>数据问题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>
              <a:outerShdw blurRad="50800" dist="38100" dir="8100000" algn="tr" rotWithShape="0">
                <a:schemeClr val="accent3">
                  <a:lumMod val="50000"/>
                  <a:alpha val="40000"/>
                </a:schemeClr>
              </a:outerShdw>
            </a:effectLst>
          </c:spPr>
          <c:marker>
            <c:symbol val="none"/>
          </c:marker>
          <c:cat>
            <c:strRef>
              <c:f>'[【CMSK】招商荟运维群问题跟进1219-1 .xlsx]Sheet3'!$A$26:$A$38</c:f>
              <c:strCache>
                <c:ptCount val="13"/>
                <c:pt idx="0">
                  <c:v>2022-12</c:v>
                </c:pt>
                <c:pt idx="1">
                  <c:v>2023-1</c:v>
                </c:pt>
                <c:pt idx="2">
                  <c:v>2023-2</c:v>
                </c:pt>
                <c:pt idx="3">
                  <c:v>2023-3</c:v>
                </c:pt>
                <c:pt idx="4">
                  <c:v>2023-4</c:v>
                </c:pt>
                <c:pt idx="5">
                  <c:v>2023-5</c:v>
                </c:pt>
                <c:pt idx="6">
                  <c:v>2023-6</c:v>
                </c:pt>
                <c:pt idx="7">
                  <c:v>2023-7</c:v>
                </c:pt>
                <c:pt idx="8">
                  <c:v>2023-8</c:v>
                </c:pt>
                <c:pt idx="9">
                  <c:v>2023-9</c:v>
                </c:pt>
                <c:pt idx="10">
                  <c:v>2023-10</c:v>
                </c:pt>
                <c:pt idx="11">
                  <c:v>2023-11</c:v>
                </c:pt>
                <c:pt idx="12">
                  <c:v>2023-12</c:v>
                </c:pt>
              </c:strCache>
            </c:strRef>
          </c:cat>
          <c:val>
            <c:numRef>
              <c:f>'[【CMSK】招商荟运维群问题跟进1219-1 .xlsx]Sheet3'!$D$26:$D$38</c:f>
              <c:numCache>
                <c:formatCode>General</c:formatCode>
                <c:ptCount val="13"/>
                <c:pt idx="0">
                  <c:v>0</c:v>
                </c:pt>
                <c:pt idx="1">
                  <c:v>12</c:v>
                </c:pt>
                <c:pt idx="2">
                  <c:v>7</c:v>
                </c:pt>
                <c:pt idx="3">
                  <c:v>12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2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8FB-6141-8AC9-8E00020ED7D1}"/>
            </c:ext>
          </c:extLst>
        </c:ser>
        <c:ser>
          <c:idx val="3"/>
          <c:order val="3"/>
          <c:tx>
            <c:strRef>
              <c:f>'[【CMSK】招商荟运维群问题跟进1219-1 .xlsx]Sheet3'!$E$25</c:f>
              <c:strCache>
                <c:ptCount val="1"/>
                <c:pt idx="0">
                  <c:v>优化需求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>
              <a:outerShdw blurRad="50800" dist="38100" dir="2700000" algn="tl" rotWithShape="0">
                <a:schemeClr val="accent4">
                  <a:lumMod val="50000"/>
                  <a:alpha val="40000"/>
                </a:schemeClr>
              </a:outerShdw>
            </a:effectLst>
          </c:spPr>
          <c:marker>
            <c:symbol val="none"/>
          </c:marker>
          <c:cat>
            <c:strRef>
              <c:f>'[【CMSK】招商荟运维群问题跟进1219-1 .xlsx]Sheet3'!$A$26:$A$38</c:f>
              <c:strCache>
                <c:ptCount val="13"/>
                <c:pt idx="0">
                  <c:v>2022-12</c:v>
                </c:pt>
                <c:pt idx="1">
                  <c:v>2023-1</c:v>
                </c:pt>
                <c:pt idx="2">
                  <c:v>2023-2</c:v>
                </c:pt>
                <c:pt idx="3">
                  <c:v>2023-3</c:v>
                </c:pt>
                <c:pt idx="4">
                  <c:v>2023-4</c:v>
                </c:pt>
                <c:pt idx="5">
                  <c:v>2023-5</c:v>
                </c:pt>
                <c:pt idx="6">
                  <c:v>2023-6</c:v>
                </c:pt>
                <c:pt idx="7">
                  <c:v>2023-7</c:v>
                </c:pt>
                <c:pt idx="8">
                  <c:v>2023-8</c:v>
                </c:pt>
                <c:pt idx="9">
                  <c:v>2023-9</c:v>
                </c:pt>
                <c:pt idx="10">
                  <c:v>2023-10</c:v>
                </c:pt>
                <c:pt idx="11">
                  <c:v>2023-11</c:v>
                </c:pt>
                <c:pt idx="12">
                  <c:v>2023-12</c:v>
                </c:pt>
              </c:strCache>
            </c:strRef>
          </c:cat>
          <c:val>
            <c:numRef>
              <c:f>'[【CMSK】招商荟运维群问题跟进1219-1 .xlsx]Sheet3'!$E$26:$E$38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78FB-6141-8AC9-8E00020ED7D1}"/>
            </c:ext>
          </c:extLst>
        </c:ser>
        <c:ser>
          <c:idx val="4"/>
          <c:order val="4"/>
          <c:tx>
            <c:strRef>
              <c:f>'[【CMSK】招商荟运维群问题跟进1219-1 .xlsx]Sheet3'!$F$25</c:f>
              <c:strCache>
                <c:ptCount val="1"/>
                <c:pt idx="0">
                  <c:v>运维支持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>
              <a:outerShdw blurRad="50800" dist="38100" dir="2700000" algn="tl" rotWithShape="0">
                <a:schemeClr val="accent5">
                  <a:lumMod val="50000"/>
                  <a:alpha val="40000"/>
                </a:schemeClr>
              </a:outerShdw>
            </a:effectLst>
          </c:spPr>
          <c:marker>
            <c:symbol val="none"/>
          </c:marker>
          <c:cat>
            <c:strRef>
              <c:f>'[【CMSK】招商荟运维群问题跟进1219-1 .xlsx]Sheet3'!$A$26:$A$38</c:f>
              <c:strCache>
                <c:ptCount val="13"/>
                <c:pt idx="0">
                  <c:v>2022-12</c:v>
                </c:pt>
                <c:pt idx="1">
                  <c:v>2023-1</c:v>
                </c:pt>
                <c:pt idx="2">
                  <c:v>2023-2</c:v>
                </c:pt>
                <c:pt idx="3">
                  <c:v>2023-3</c:v>
                </c:pt>
                <c:pt idx="4">
                  <c:v>2023-4</c:v>
                </c:pt>
                <c:pt idx="5">
                  <c:v>2023-5</c:v>
                </c:pt>
                <c:pt idx="6">
                  <c:v>2023-6</c:v>
                </c:pt>
                <c:pt idx="7">
                  <c:v>2023-7</c:v>
                </c:pt>
                <c:pt idx="8">
                  <c:v>2023-8</c:v>
                </c:pt>
                <c:pt idx="9">
                  <c:v>2023-9</c:v>
                </c:pt>
                <c:pt idx="10">
                  <c:v>2023-10</c:v>
                </c:pt>
                <c:pt idx="11">
                  <c:v>2023-11</c:v>
                </c:pt>
                <c:pt idx="12">
                  <c:v>2023-12</c:v>
                </c:pt>
              </c:strCache>
            </c:strRef>
          </c:cat>
          <c:val>
            <c:numRef>
              <c:f>'[【CMSK】招商荟运维群问题跟进1219-1 .xlsx]Sheet3'!$F$26:$F$38</c:f>
              <c:numCache>
                <c:formatCode>General</c:formatCode>
                <c:ptCount val="13"/>
                <c:pt idx="0">
                  <c:v>2</c:v>
                </c:pt>
                <c:pt idx="1">
                  <c:v>12</c:v>
                </c:pt>
                <c:pt idx="2">
                  <c:v>24</c:v>
                </c:pt>
                <c:pt idx="3">
                  <c:v>44</c:v>
                </c:pt>
                <c:pt idx="4">
                  <c:v>42</c:v>
                </c:pt>
                <c:pt idx="5">
                  <c:v>26</c:v>
                </c:pt>
                <c:pt idx="6">
                  <c:v>26</c:v>
                </c:pt>
                <c:pt idx="7">
                  <c:v>30</c:v>
                </c:pt>
                <c:pt idx="8">
                  <c:v>39</c:v>
                </c:pt>
                <c:pt idx="9">
                  <c:v>21</c:v>
                </c:pt>
                <c:pt idx="10">
                  <c:v>11</c:v>
                </c:pt>
                <c:pt idx="11">
                  <c:v>20</c:v>
                </c:pt>
                <c:pt idx="12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78FB-6141-8AC9-8E00020ED7D1}"/>
            </c:ext>
          </c:extLst>
        </c:ser>
        <c:ser>
          <c:idx val="5"/>
          <c:order val="5"/>
          <c:tx>
            <c:strRef>
              <c:f>'[【CMSK】招商荟运维群问题跟进1219-1 .xlsx]Sheet3'!$G$25</c:f>
              <c:strCache>
                <c:ptCount val="1"/>
                <c:pt idx="0">
                  <c:v>总计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>
              <a:outerShdw blurRad="50800" dist="38100" dir="2700000" algn="tl" rotWithShape="0">
                <a:schemeClr val="accent6">
                  <a:lumMod val="50000"/>
                  <a:alpha val="40000"/>
                </a:schemeClr>
              </a:outerShdw>
            </a:effectLst>
          </c:spPr>
          <c:marker>
            <c:symbol val="none"/>
          </c:marker>
          <c:cat>
            <c:strRef>
              <c:f>'[【CMSK】招商荟运维群问题跟进1219-1 .xlsx]Sheet3'!$A$26:$A$38</c:f>
              <c:strCache>
                <c:ptCount val="13"/>
                <c:pt idx="0">
                  <c:v>2022-12</c:v>
                </c:pt>
                <c:pt idx="1">
                  <c:v>2023-1</c:v>
                </c:pt>
                <c:pt idx="2">
                  <c:v>2023-2</c:v>
                </c:pt>
                <c:pt idx="3">
                  <c:v>2023-3</c:v>
                </c:pt>
                <c:pt idx="4">
                  <c:v>2023-4</c:v>
                </c:pt>
                <c:pt idx="5">
                  <c:v>2023-5</c:v>
                </c:pt>
                <c:pt idx="6">
                  <c:v>2023-6</c:v>
                </c:pt>
                <c:pt idx="7">
                  <c:v>2023-7</c:v>
                </c:pt>
                <c:pt idx="8">
                  <c:v>2023-8</c:v>
                </c:pt>
                <c:pt idx="9">
                  <c:v>2023-9</c:v>
                </c:pt>
                <c:pt idx="10">
                  <c:v>2023-10</c:v>
                </c:pt>
                <c:pt idx="11">
                  <c:v>2023-11</c:v>
                </c:pt>
                <c:pt idx="12">
                  <c:v>2023-12</c:v>
                </c:pt>
              </c:strCache>
            </c:strRef>
          </c:cat>
          <c:val>
            <c:numRef>
              <c:f>'[【CMSK】招商荟运维群问题跟进1219-1 .xlsx]Sheet3'!$G$26:$G$38</c:f>
              <c:numCache>
                <c:formatCode>General</c:formatCode>
                <c:ptCount val="13"/>
                <c:pt idx="0">
                  <c:v>2</c:v>
                </c:pt>
                <c:pt idx="1">
                  <c:v>31</c:v>
                </c:pt>
                <c:pt idx="2">
                  <c:v>38</c:v>
                </c:pt>
                <c:pt idx="3">
                  <c:v>61</c:v>
                </c:pt>
                <c:pt idx="4">
                  <c:v>45</c:v>
                </c:pt>
                <c:pt idx="5">
                  <c:v>27</c:v>
                </c:pt>
                <c:pt idx="6">
                  <c:v>28</c:v>
                </c:pt>
                <c:pt idx="7">
                  <c:v>35</c:v>
                </c:pt>
                <c:pt idx="8">
                  <c:v>47</c:v>
                </c:pt>
                <c:pt idx="9">
                  <c:v>23</c:v>
                </c:pt>
                <c:pt idx="10">
                  <c:v>12</c:v>
                </c:pt>
                <c:pt idx="11">
                  <c:v>20</c:v>
                </c:pt>
                <c:pt idx="12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78FB-6141-8AC9-8E00020ED7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38771167"/>
        <c:axId val="536873277"/>
      </c:lineChart>
      <c:catAx>
        <c:axId val="2387711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36873277"/>
        <c:crosses val="autoZero"/>
        <c:auto val="1"/>
        <c:lblAlgn val="ctr"/>
        <c:lblOffset val="100"/>
        <c:noMultiLvlLbl val="0"/>
      </c:catAx>
      <c:valAx>
        <c:axId val="53687327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8771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ED7D31"/>
      </a:solidFill>
      <a:prstDash val="solid"/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Radar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CN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Profile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Speed</c:v>
                </c:pt>
                <c:pt idx="1">
                  <c:v>Quality</c:v>
                </c:pt>
                <c:pt idx="2">
                  <c:v>Reach</c:v>
                </c:pt>
                <c:pt idx="3">
                  <c:v>Cost</c:v>
                </c:pt>
                <c:pt idx="4">
                  <c:v>Stability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85</c:v>
                </c:pt>
                <c:pt idx="2">
                  <c:v>64</c:v>
                </c:pt>
                <c:pt idx="3">
                  <c:v>58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01-254D-93C1-1EEC8C68B3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N"/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N"/>
          </a:p>
        </c:txPr>
        <c:crossAx val="2073612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ln>
              <a:solidFill>
                <a:schemeClr val="accent6">
                  <a:lumMod val="75000"/>
                </a:schemeClr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3.4</c:v>
                </c:pt>
                <c:pt idx="2">
                  <c:v>2.8</c:v>
                </c:pt>
                <c:pt idx="3">
                  <c:v>4.0999999999999996</c:v>
                </c:pt>
                <c:pt idx="4">
                  <c:v>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CD-1F44-84DF-8138D95B47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</c:spPr>
          <c:cat>
            <c:strRef>
              <c:f>Sheet1!$A$2:$A$5</c:f>
              <c:strCache>
                <c:ptCount val="4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BA-8F43-BD2F-77D241ACB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 lang="en-CN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ln w="47625">
              <a:noFill/>
            </a:ln>
          </c:spPr>
          <c:marker>
            <c:spPr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2.2000000000000002</c:v>
                </c:pt>
                <c:pt idx="2">
                  <c:v>3.1</c:v>
                </c:pt>
                <c:pt idx="3">
                  <c:v>4.3</c:v>
                </c:pt>
                <c:pt idx="4">
                  <c:v>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1.6</c:v>
                </c:pt>
                <c:pt idx="1">
                  <c:v>2.4</c:v>
                </c:pt>
                <c:pt idx="2">
                  <c:v>2.9</c:v>
                </c:pt>
                <c:pt idx="3">
                  <c:v>3.8</c:v>
                </c:pt>
                <c:pt idx="4">
                  <c:v>4.0999999999999996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F72-274F-B6A5-BDE7B7A547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868055555555558"/>
          <c:y val="3.6832412523020261E-2"/>
          <c:w val="0.48263888888888895"/>
          <c:h val="0.93861264579496639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ln>
              <a:solidFill>
                <a:schemeClr val="accent6">
                  <a:lumMod val="75000"/>
                </a:schemeClr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One</c:v>
                </c:pt>
                <c:pt idx="1">
                  <c:v>Two</c:v>
                </c:pt>
                <c:pt idx="2">
                  <c:v>Three</c:v>
                </c:pt>
                <c:pt idx="3">
                  <c:v>Four</c:v>
                </c:pt>
                <c:pt idx="4">
                  <c:v>Five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78</c:v>
                </c:pt>
                <c:pt idx="2">
                  <c:v>66</c:v>
                </c:pt>
                <c:pt idx="3">
                  <c:v>52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95-054C-BAB6-B038BDC2E8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1"/>
        <c:axPos val="l"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spPr>
    <a:ln>
      <a:solidFill>
        <a:schemeClr val="accent6">
          <a:lumMod val="7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cs:styleClr val="auto"/>
    </cs:fontRef>
    <cs:spPr/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 w="9575">
        <a:solidFill>
          <a:schemeClr val="lt1">
            <a:lumMod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 cmpd="sng" algn="ctr">
        <a:solidFill>
          <a:schemeClr val="phClr">
            <a:shade val="95000"/>
            <a:satMod val="105000"/>
          </a:schemeClr>
        </a:solidFill>
        <a:round/>
      </a:ln>
    </cs:spPr>
  </cs:dataPointLine>
  <cs:dataPointMarker>
    <cs:lnRef idx="0"/>
    <cs:fillRef idx="0"/>
    <cs:effectRef idx="0"/>
    <cs:fontRef idx="minor">
      <a:schemeClr val="dk1"/>
    </cs:fontRef>
    <cs:spPr>
      <a:solidFill>
        <a:schemeClr val="lt1"/>
      </a:solidFill>
    </cs:spPr>
  </cs:dataPointMarker>
  <cs:dataPointMarkerLayout symbol="circle" size="17"/>
  <cs:dataPointWireframe>
    <cs:lnRef idx="0">
      <cs:styleClr val="auto"/>
    </cs:lnRef>
    <cs:fillRef idx="1"/>
    <cs:effectRef idx="0"/>
    <cs:fontRef idx="minor">
      <a:schemeClr val="dk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/>
    </cs:fontRef>
    <cs:defRPr sz="1915" b="0" kern="1200" cap="all" spc="0" baseline="0">
      <a:gradFill>
        <a:gsLst>
          <a:gs pos="0">
            <a:schemeClr val="dk1">
              <a:lumMod val="50000"/>
              <a:lumOff val="50000"/>
            </a:schemeClr>
          </a:gs>
          <a:gs pos="100000">
            <a:schemeClr val="dk1">
              <a:lumMod val="85000"/>
              <a:lumOff val="15000"/>
            </a:schemeClr>
          </a:gs>
        </a:gsLst>
        <a:lin ang="5400000" scaled="0"/>
      </a:gradFill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cs:styleClr val="auto"/>
    </cs:fontRef>
    <cs:spPr/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 w="9575">
        <a:solidFill>
          <a:schemeClr val="lt1">
            <a:lumMod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 cmpd="sng" algn="ctr">
        <a:solidFill>
          <a:schemeClr val="phClr">
            <a:shade val="95000"/>
            <a:satMod val="105000"/>
          </a:schemeClr>
        </a:solidFill>
        <a:round/>
      </a:ln>
    </cs:spPr>
  </cs:dataPointLine>
  <cs:dataPointMarker>
    <cs:lnRef idx="0"/>
    <cs:fillRef idx="0"/>
    <cs:effectRef idx="0"/>
    <cs:fontRef idx="minor">
      <a:schemeClr val="dk1"/>
    </cs:fontRef>
    <cs:spPr>
      <a:solidFill>
        <a:schemeClr val="lt1"/>
      </a:solidFill>
    </cs:spPr>
  </cs:dataPointMarker>
  <cs:dataPointMarkerLayout symbol="circle" size="17"/>
  <cs:dataPointWireframe>
    <cs:lnRef idx="0">
      <cs:styleClr val="auto"/>
    </cs:lnRef>
    <cs:fillRef idx="1"/>
    <cs:effectRef idx="0"/>
    <cs:fontRef idx="minor">
      <a:schemeClr val="dk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/>
    </cs:fontRef>
    <cs:defRPr sz="1915" b="0" kern="1200" cap="all" spc="0" baseline="0">
      <a:gradFill>
        <a:gsLst>
          <a:gs pos="0">
            <a:schemeClr val="dk1">
              <a:lumMod val="50000"/>
              <a:lumOff val="50000"/>
            </a:schemeClr>
          </a:gs>
          <a:gs pos="100000">
            <a:schemeClr val="dk1">
              <a:lumMod val="85000"/>
              <a:lumOff val="15000"/>
            </a:schemeClr>
          </a:gs>
        </a:gsLst>
        <a:lin ang="5400000" scaled="0"/>
      </a:gradFill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1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40000"/>
            <a:lumOff val="60000"/>
          </a:schemeClr>
        </a:solidFill>
        <a:round/>
      </a:ln>
    </cs:spPr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google.com" TargetMode="External"/><Relationship Id="rId7" Type="http://schemas.openxmlformats.org/officeDocument/2006/relationships/hyperlink" Target="https://pexels.com" TargetMode="External"/><Relationship Id="rId2" Type="http://schemas.openxmlformats.org/officeDocument/2006/relationships/hyperlink" Target="https://githu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hyperlink" Target="https://developer.mozilla.org" TargetMode="External"/><Relationship Id="rId5" Type="http://schemas.openxmlformats.org/officeDocument/2006/relationships/hyperlink" Target="https://unsplash.com" TargetMode="External"/><Relationship Id="rId10" Type="http://schemas.openxmlformats.org/officeDocument/2006/relationships/hyperlink" Target="https://claude.ai/code" TargetMode="External"/><Relationship Id="rId4" Type="http://schemas.openxmlformats.org/officeDocument/2006/relationships/hyperlink" Target="https://example.com" TargetMode="External"/><Relationship Id="rId9" Type="http://schemas.openxmlformats.org/officeDocument/2006/relationships/hyperlink" Target="https://anthropic.co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" TargetMode="External"/><Relationship Id="rId2" Type="http://schemas.openxmlformats.org/officeDocument/2006/relationships/hyperlink" Target="https://github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xample.com/hover" TargetMode="External"/><Relationship Id="rId5" Type="http://schemas.openxmlformats.org/officeDocument/2006/relationships/slide" Target="slide1.xml"/><Relationship Id="rId4" Type="http://schemas.openxmlformats.org/officeDocument/2006/relationships/hyperlink" Target="https://example.com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</a:defRPr>
            </a:pPr>
            <a:r>
              <a:t>Slide 1: Image Filters (CSS filter)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46888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Original</a:t>
            </a:r>
            <a:br/>
            <a:r>
              <a:t>(no filter)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0400" y="914400"/>
            <a:ext cx="246888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Brightness +40%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contras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43600" y="914400"/>
            <a:ext cx="246888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Contrast +50%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aturation sa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3108959"/>
            <a:ext cx="246888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138927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Saturation 50%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aturation sat="1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0400" y="3108959"/>
            <a:ext cx="246888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0" y="5138927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Saturation 150%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-3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43600" y="3108959"/>
            <a:ext cx="2468880" cy="1645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0" y="5138927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Brightness -30%</a:t>
            </a:r>
            <a:br/>
            <a:r>
              <a:t>Contrast +20%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</a:defRPr>
            </a:pPr>
            <a:r>
              <a:t>Slide 2: Table Cell Styles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Style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Alignment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200" b="1" i="0" u="none">
                          <a:solidFill>
                            <a:srgbClr val="333333"/>
                          </a:solidFill>
                        </a:defRPr>
                      </a:pPr>
                      <a:r>
                        <a:t>Bold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1" i="0" u="none">
                          <a:solidFill>
                            <a:srgbClr val="333333"/>
                          </a:solidFill>
                        </a:defRPr>
                      </a:pPr>
                      <a:r>
                        <a:t>This text is bold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 i="0" u="none">
                          <a:solidFill>
                            <a:srgbClr val="333333"/>
                          </a:solidFill>
                        </a:defRPr>
                      </a:pPr>
                      <a:r>
                        <a:t>Left aligned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 i="0" u="none">
                          <a:solidFill>
                            <a:srgbClr val="CC0000"/>
                          </a:solidFill>
                        </a:defRPr>
                      </a:pPr>
                      <a:r>
                        <a:t>Bold + 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200" b="0" i="1" u="none">
                          <a:solidFill>
                            <a:srgbClr val="333333"/>
                          </a:solidFill>
                        </a:defRPr>
                      </a:pPr>
                      <a:r>
                        <a:t>Italic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 i="1" u="none">
                          <a:solidFill>
                            <a:srgbClr val="333333"/>
                          </a:solidFill>
                        </a:defRPr>
                      </a:pPr>
                      <a:r>
                        <a:t>This text is italic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 u="none">
                          <a:solidFill>
                            <a:srgbClr val="333333"/>
                          </a:solidFill>
                        </a:defRPr>
                      </a:pPr>
                      <a:r>
                        <a:t>Center aligned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 i="1" u="none">
                          <a:solidFill>
                            <a:srgbClr val="333333"/>
                          </a:solidFill>
                        </a:defRPr>
                      </a:pPr>
                      <a:r>
                        <a:t>Italic + Blue bg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200" b="0" i="0" u="sng">
                          <a:solidFill>
                            <a:srgbClr val="333333"/>
                          </a:solidFill>
                        </a:defRPr>
                      </a:pPr>
                      <a:r>
                        <a:t>Underline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 i="0" u="sng">
                          <a:solidFill>
                            <a:srgbClr val="333333"/>
                          </a:solidFill>
                        </a:defRPr>
                      </a:pPr>
                      <a:r>
                        <a:t>This text is underlined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200" b="0" i="0" u="none">
                          <a:solidFill>
                            <a:srgbClr val="333333"/>
                          </a:solidFill>
                        </a:defRPr>
                      </a:pPr>
                      <a:r>
                        <a:t>Right aligned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 i="0" u="sng">
                          <a:solidFill>
                            <a:srgbClr val="006600"/>
                          </a:solidFill>
                        </a:defRPr>
                      </a:pPr>
                      <a:r>
                        <a:t>Underline + Green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200" b="0" i="0" u="none">
                          <a:solidFill>
                            <a:srgbClr val="333333"/>
                          </a:solidFill>
                        </a:defRPr>
                      </a:pPr>
                      <a:r>
                        <a:rPr strike="sngStrike"/>
                        <a:t>Strikethrough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 i="0" u="none">
                          <a:solidFill>
                            <a:srgbClr val="333333"/>
                          </a:solidFill>
                        </a:defRPr>
                      </a:pPr>
                      <a:r>
                        <a:rPr strike="sngStrike"/>
                        <a:t>This text has strikethrough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 b="0" i="0" u="none">
                          <a:solidFill>
                            <a:srgbClr val="333333"/>
                          </a:solidFill>
                        </a:defRPr>
                      </a:pPr>
                      <a:r>
                        <a:t>Center + 18pt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 i="0" u="none">
                          <a:solidFill>
                            <a:srgbClr val="333333"/>
                          </a:solidFill>
                        </a:defRPr>
                      </a:pPr>
                      <a:r>
                        <a:rPr strike="sngStrike"/>
                        <a:t>Strike + Orange bg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200" b="1" i="1" u="sng">
                          <a:solidFill>
                            <a:srgbClr val="333333"/>
                          </a:solidFill>
                        </a:defRPr>
                      </a:pPr>
                      <a:r>
                        <a:t>All combined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 i="1" u="sng">
                          <a:solidFill>
                            <a:srgbClr val="333333"/>
                          </a:solidFill>
                        </a:defRPr>
                      </a:pPr>
                      <a:r>
                        <a:rPr strike="sngStrike"/>
                        <a:t>Bold+Italic+Underline+Strike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 i="0" u="none">
                          <a:solidFill>
                            <a:srgbClr val="888888"/>
                          </a:solidFill>
                        </a:defRPr>
                      </a:pPr>
                      <a:r>
                        <a:t>Right + 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 i="1" u="sng">
                          <a:solidFill>
                            <a:srgbClr val="6A0DAD"/>
                          </a:solidFill>
                        </a:defRPr>
                      </a:pPr>
                      <a:r>
                        <a:rPr strike="sngStrike"/>
                        <a:t>All styles + Purple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</a:defRPr>
            </a:pPr>
            <a:r>
              <a:t>Slide 3: Image Borders / Outlines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468880" cy="1645920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  <p:sp>
        <p:nvSpPr>
          <p:cNvPr id="4" name="TextBox 3"/>
          <p:cNvSpPr txBox="1"/>
          <p:nvPr/>
        </p:nvSpPr>
        <p:spPr>
          <a:xfrm>
            <a:off x="457200" y="2578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Solid 2pt Black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14400"/>
            <a:ext cx="2468880" cy="1645920"/>
          </a:xfrm>
          <a:prstGeom prst="rect">
            <a:avLst/>
          </a:prstGeom>
          <a:ln w="50800">
            <a:solidFill>
              <a:srgbClr val="CC0000"/>
            </a:solidFill>
            <a:prstDash val="solid"/>
          </a:ln>
        </p:spPr>
      </p:pic>
      <p:sp>
        <p:nvSpPr>
          <p:cNvPr id="6" name="TextBox 5"/>
          <p:cNvSpPr txBox="1"/>
          <p:nvPr/>
        </p:nvSpPr>
        <p:spPr>
          <a:xfrm>
            <a:off x="3200400" y="2578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Solid 4pt Red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914400"/>
            <a:ext cx="2468880" cy="1645920"/>
          </a:xfrm>
          <a:prstGeom prst="rect">
            <a:avLst/>
          </a:prstGeom>
          <a:ln w="38100">
            <a:solidFill>
              <a:srgbClr val="0066CC"/>
            </a:solidFill>
            <a:prstDash val="dash"/>
          </a:ln>
        </p:spPr>
      </p:pic>
      <p:sp>
        <p:nvSpPr>
          <p:cNvPr id="8" name="TextBox 7"/>
          <p:cNvSpPr txBox="1"/>
          <p:nvPr/>
        </p:nvSpPr>
        <p:spPr>
          <a:xfrm>
            <a:off x="5943600" y="2578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Dashed 3pt Blue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77155"/>
            <a:ext cx="2468880" cy="1645920"/>
          </a:xfrm>
          <a:prstGeom prst="rect">
            <a:avLst/>
          </a:prstGeom>
          <a:ln w="25400">
            <a:solidFill>
              <a:srgbClr val="6A0DAD"/>
            </a:solidFill>
            <a:prstDash val="sysDot"/>
          </a:ln>
        </p:spPr>
      </p:pic>
      <p:sp>
        <p:nvSpPr>
          <p:cNvPr id="10" name="TextBox 9"/>
          <p:cNvSpPr txBox="1"/>
          <p:nvPr/>
        </p:nvSpPr>
        <p:spPr>
          <a:xfrm>
            <a:off x="457200" y="51389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Dot 2pt Purple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077155"/>
            <a:ext cx="2468880" cy="1645920"/>
          </a:xfrm>
          <a:prstGeom prst="rect">
            <a:avLst/>
          </a:prstGeom>
          <a:ln w="38100">
            <a:solidFill>
              <a:srgbClr val="006600"/>
            </a:solidFill>
            <a:prstDash val="dashDot"/>
          </a:ln>
        </p:spPr>
      </p:pic>
      <p:sp>
        <p:nvSpPr>
          <p:cNvPr id="12" name="TextBox 11"/>
          <p:cNvSpPr txBox="1"/>
          <p:nvPr/>
        </p:nvSpPr>
        <p:spPr>
          <a:xfrm>
            <a:off x="3200400" y="51389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DashDot 3pt Green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077155"/>
            <a:ext cx="2468880" cy="1645920"/>
          </a:xfrm>
          <a:prstGeom prst="rect">
            <a:avLst/>
          </a:prstGeom>
          <a:ln w="76200">
            <a:solidFill>
              <a:srgbClr val="FF8800"/>
            </a:solidFill>
            <a:prstDash val="solid"/>
          </a:ln>
        </p:spPr>
      </p:pic>
      <p:sp>
        <p:nvSpPr>
          <p:cNvPr id="14" name="TextBox 13"/>
          <p:cNvSpPr txBox="1"/>
          <p:nvPr/>
        </p:nvSpPr>
        <p:spPr>
          <a:xfrm>
            <a:off x="5943600" y="51389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Solid 6pt Orange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</a:defRPr>
            </a:pPr>
            <a:r>
              <a:t>Slide 4: Connectors (Straight / Bent / Curved)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097280"/>
            <a:ext cx="1097280" cy="7315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1A</a:t>
            </a:r>
          </a:p>
        </p:txBody>
      </p:sp>
      <p:sp>
        <p:nvSpPr>
          <p:cNvPr id="4" name="Oval 3"/>
          <p:cNvSpPr/>
          <p:nvPr/>
        </p:nvSpPr>
        <p:spPr>
          <a:xfrm>
            <a:off x="3474720" y="1097280"/>
            <a:ext cx="1097280" cy="7315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1B</a:t>
            </a:r>
          </a:p>
        </p:txBody>
      </p:sp>
      <p:sp>
        <p:nvSpPr>
          <p:cNvPr id="5" name="Oval 4"/>
          <p:cNvSpPr/>
          <p:nvPr/>
        </p:nvSpPr>
        <p:spPr>
          <a:xfrm>
            <a:off x="6217920" y="1097280"/>
            <a:ext cx="1097280" cy="7315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1C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1097280" cy="731520"/>
          </a:xfrm>
          <a:prstGeom prst="rect">
            <a:avLst/>
          </a:prstGeom>
          <a:solidFill>
            <a:srgbClr val="FFD6D6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2A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560320"/>
            <a:ext cx="1097280" cy="731520"/>
          </a:xfrm>
          <a:prstGeom prst="rect">
            <a:avLst/>
          </a:prstGeom>
          <a:solidFill>
            <a:srgbClr val="FFD6D6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2B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560320"/>
            <a:ext cx="1097280" cy="731520"/>
          </a:xfrm>
          <a:prstGeom prst="rect">
            <a:avLst/>
          </a:prstGeom>
          <a:solidFill>
            <a:srgbClr val="FFD6D6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2C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97280" cy="731520"/>
          </a:xfrm>
          <a:prstGeom prst="roundRect">
            <a:avLst/>
          </a:prstGeom>
          <a:solidFill>
            <a:srgbClr val="D5F5E3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3A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931920"/>
            <a:ext cx="1097280" cy="731520"/>
          </a:xfrm>
          <a:prstGeom prst="roundRect">
            <a:avLst/>
          </a:prstGeom>
          <a:solidFill>
            <a:srgbClr val="D5F5E3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3B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1097280" cy="731520"/>
          </a:xfrm>
          <a:prstGeom prst="roundRect">
            <a:avLst/>
          </a:prstGeom>
          <a:solidFill>
            <a:srgbClr val="D5F5E3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3C</a:t>
            </a:r>
          </a:p>
        </p:txBody>
      </p:sp>
      <p:cxnSp>
        <p:nvCxnSpPr>
          <p:cNvPr id="900" name="Connector straightConnector1"/>
          <p:cNvCxnSpPr/>
          <p:nvPr/>
        </p:nvCxnSpPr>
        <p:spPr>
          <a:xfrm>
            <a:off x="1828800" y="1463040"/>
            <a:ext cx="1645920" cy="274320"/>
          </a:xfrm>
          <a:prstGeom prst="straightConnector1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cxnSp>
        <p:nvCxnSpPr>
          <p:cNvPr id="797" name="Connector straightConnector1"/>
          <p:cNvCxnSpPr/>
          <p:nvPr/>
        </p:nvCxnSpPr>
        <p:spPr>
          <a:xfrm>
            <a:off x="4572000" y="1463040"/>
            <a:ext cx="1645920" cy="274320"/>
          </a:xfrm>
          <a:prstGeom prst="straightConnector1">
            <a:avLst/>
          </a:prstGeom>
          <a:ln w="38100">
            <a:solidFill>
              <a:srgbClr val="CC0000"/>
            </a:solidFill>
            <a:prstDash val="dash"/>
            <a:tailEnd type="triangle" w="med" len="med"/>
          </a:ln>
        </p:spPr>
      </p:cxnSp>
      <p:cxnSp>
        <p:nvCxnSpPr>
          <p:cNvPr id="485" name="Connector bentConnector3"/>
          <p:cNvCxnSpPr/>
          <p:nvPr/>
        </p:nvCxnSpPr>
        <p:spPr>
          <a:xfrm>
            <a:off x="1828800" y="2926080"/>
            <a:ext cx="1645920" cy="274320"/>
          </a:xfrm>
          <a:prstGeom prst="bentConnector3">
            <a:avLst>
              <a:gd name="adj1" fmla="val 50000"/>
            </a:avLst>
          </a:prstGeom>
          <a:ln w="25400">
            <a:solidFill>
              <a:srgbClr val="0066CC"/>
            </a:solidFill>
            <a:tailEnd type="triangle" w="med" len="med"/>
          </a:ln>
        </p:spPr>
      </p:cxnSp>
      <p:sp>
        <p:nvSpPr>
          <p:cNvPr id="902" name="TextBox 901"/>
          <p:cNvSpPr txBox="1"/>
          <p:nvPr/>
        </p:nvSpPr>
        <p:spPr>
          <a:xfrm>
            <a:off x="7772400" y="26974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66CC"/>
                </a:solidFill>
              </a:defRPr>
            </a:pPr>
            <a:r>
              <a:t>Bent</a:t>
            </a:r>
            <a:br/>
            <a:r>
              <a:t>Connectors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7772400" y="4069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C6600"/>
                </a:solidFill>
              </a:defRPr>
            </a:pPr>
            <a:r>
              <a:t>Curved</a:t>
            </a:r>
            <a:br/>
            <a:r>
              <a:t>Connectors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</a:defRPr>
            </a:pPr>
            <a:r>
              <a:t>Slide 5: Element Hyperlinks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</a:defRPr>
            </a:pPr>
            <a:r>
              <a:t>Shape Hyperlinks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>
          <a:xfrm>
            <a:off x="457200" y="1188720"/>
            <a:ext cx="2286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Click → github.com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3200400" y="1188720"/>
            <a:ext cx="2286000" cy="640080"/>
          </a:xfrm>
          <a:prstGeom prst="round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Click → google.com</a:t>
            </a:r>
          </a:p>
        </p:txBody>
      </p:sp>
      <p:sp>
        <p:nvSpPr>
          <p:cNvPr id="6" name="Oval 5">
            <a:hlinkClick r:id="rId4"/>
          </p:cNvPr>
          <p:cNvSpPr/>
          <p:nvPr/>
        </p:nvSpPr>
        <p:spPr>
          <a:xfrm>
            <a:off x="5943600" y="1051560"/>
            <a:ext cx="1371600" cy="9144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Oval</a:t>
            </a:r>
            <a:br/>
            <a:r>
              <a:t>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</a:defRPr>
            </a:pPr>
            <a:r>
              <a:t>Image Hyperlinks</a:t>
            </a:r>
          </a:p>
        </p:txBody>
      </p:sp>
      <p:pic>
        <p:nvPicPr>
          <p:cNvPr id="8" name="Picture 7" descr="image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68880"/>
            <a:ext cx="201168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CC"/>
                </a:solidFill>
              </a:defRPr>
            </a:pPr>
            <a:r>
              <a:t>→ unsplash.com</a:t>
            </a:r>
          </a:p>
        </p:txBody>
      </p:sp>
      <p:pic>
        <p:nvPicPr>
          <p:cNvPr id="10" name="Picture 9" descr="image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6080" y="2468880"/>
            <a:ext cx="201168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26080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CC"/>
                </a:solidFill>
              </a:defRPr>
            </a:pPr>
            <a:r>
              <a:t>→ pexels.com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</a:defRPr>
            </a:pPr>
            <a:r>
              <a:t>Text Hyperlinks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5603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Visit </a:t>
            </a:r>
            <a:r>
              <a:rPr sz="1300" u="sng">
                <a:solidFill>
                  <a:srgbClr val="0066CC"/>
                </a:solidFill>
                <a:hlinkClick r:id="rId9"/>
              </a:rPr>
              <a:t>Anthropic</a:t>
            </a:r>
          </a:p>
          <a:p>
            <a:r>
              <a:rPr sz="1300">
                <a:solidFill>
                  <a:srgbClr val="333333"/>
                </a:solidFill>
              </a:rPr>
              <a:t>Check out </a:t>
            </a:r>
            <a:r>
              <a:rPr sz="1300" u="sng">
                <a:solidFill>
                  <a:srgbClr val="0066CC"/>
                </a:solidFill>
                <a:hlinkClick r:id="rId10"/>
              </a:rPr>
              <a:t>Claude Code</a:t>
            </a:r>
          </a:p>
          <a:p>
            <a:r>
              <a:rPr sz="1300">
                <a:solidFill>
                  <a:srgbClr val="333333"/>
                </a:solidFill>
              </a:rPr>
              <a:t>Read </a:t>
            </a:r>
            <a:r>
              <a:rPr sz="1300" u="sng">
                <a:solidFill>
                  <a:srgbClr val="0066CC"/>
                </a:solidFill>
                <a:hlinkClick r:id="rId11"/>
              </a:rPr>
              <a:t>MDN Web 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</a:defRPr>
            </a:pPr>
            <a:r>
              <a:t>Slide 6: Image Rounded Corners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46888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578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No radius (rect)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14400"/>
            <a:ext cx="2468880" cy="1645920"/>
          </a:xfrm>
          <a:prstGeom prst="roundRect">
            <a:avLst>
              <a:gd name="adj" fmla="val 5000"/>
            </a:avLst>
          </a:prstGeom>
        </p:spPr>
      </p:pic>
      <p:sp>
        <p:nvSpPr>
          <p:cNvPr id="6" name="TextBox 5"/>
          <p:cNvSpPr txBox="1"/>
          <p:nvPr/>
        </p:nvSpPr>
        <p:spPr>
          <a:xfrm>
            <a:off x="3200400" y="2578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Small radius (5%)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914400"/>
            <a:ext cx="2468880" cy="1645920"/>
          </a:xfrm>
          <a:prstGeom prst="roundRect">
            <a:avLst>
              <a:gd name="adj" fmla="val 10000"/>
            </a:avLst>
          </a:prstGeom>
        </p:spPr>
      </p:pic>
      <p:sp>
        <p:nvSpPr>
          <p:cNvPr id="8" name="TextBox 7"/>
          <p:cNvSpPr txBox="1"/>
          <p:nvPr/>
        </p:nvSpPr>
        <p:spPr>
          <a:xfrm>
            <a:off x="5943600" y="2578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Medium radius (10%)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84259"/>
            <a:ext cx="2468880" cy="1645920"/>
          </a:xfrm>
          <a:prstGeom prst="roundRect">
            <a:avLst>
              <a:gd name="adj" fmla="val 20000"/>
            </a:avLst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1389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Large radius (20%)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184259"/>
            <a:ext cx="2468880" cy="1645920"/>
          </a:xfrm>
          <a:prstGeom prst="roundRect">
            <a:avLst>
              <a:gd name="adj" fmla="val 30000"/>
            </a:avLst>
          </a:prstGeom>
        </p:spPr>
      </p:pic>
      <p:sp>
        <p:nvSpPr>
          <p:cNvPr id="12" name="TextBox 11"/>
          <p:cNvSpPr txBox="1"/>
          <p:nvPr/>
        </p:nvSpPr>
        <p:spPr>
          <a:xfrm>
            <a:off x="3200400" y="51389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rPr dirty="0"/>
              <a:t>Very large (30%)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184259"/>
            <a:ext cx="2468880" cy="1645920"/>
          </a:xfrm>
          <a:prstGeom prst="roundRect">
            <a:avLst>
              <a:gd name="adj" fmla="val 50000"/>
            </a:avLst>
          </a:prstGeom>
        </p:spPr>
      </p:pic>
      <p:sp>
        <p:nvSpPr>
          <p:cNvPr id="14" name="TextBox 13"/>
          <p:cNvSpPr txBox="1"/>
          <p:nvPr/>
        </p:nvSpPr>
        <p:spPr>
          <a:xfrm>
            <a:off x="5943600" y="51389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Circle (50%)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74320"/>
            <a:ext cx="502920" cy="50292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D3436"/>
                </a:solidFill>
              </a:rPr>
              <a:t>表格单元格样式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5836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F8C8D"/>
                </a:solidFill>
              </a:rPr>
              <a:t>italic / underline / strikethrough / bold / color 组合验证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F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542596"/>
              </p:ext>
            </p:extLst>
          </p:nvPr>
        </p:nvGraphicFramePr>
        <p:xfrm>
          <a:off x="411480" y="1234440"/>
          <a:ext cx="8321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样式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E865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示例文本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E865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组合样式</a:t>
                      </a:r>
                    </a:p>
                  </a:txBody>
                  <a:tcPr anchor="ctr">
                    <a:solidFill>
                      <a:srgbClr val="E865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预期效果</a:t>
                      </a:r>
                    </a:p>
                  </a:txBody>
                  <a:tcPr anchor="ctr">
                    <a:solidFill>
                      <a:srgbClr val="E86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D3436"/>
                          </a:solidFill>
                        </a:rPr>
                        <a:t>Italic </a:t>
                      </a:r>
                      <a:r>
                        <a:rPr sz="1000" b="1" dirty="0" err="1">
                          <a:solidFill>
                            <a:srgbClr val="2D3436"/>
                          </a:solidFill>
                        </a:rPr>
                        <a:t>斜体</a:t>
                      </a:r>
                      <a:endParaRPr sz="1000" b="1" dirty="0">
                        <a:solidFill>
                          <a:srgbClr val="2D343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i="1" dirty="0"/>
                        <a:t>This text is italic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7F8C8D"/>
                          </a:solidFill>
                        </a:rPr>
                        <a:t>斜体+粗体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 i="1"/>
                        <a:t>Bold Italic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D3436"/>
                          </a:solidFill>
                        </a:rPr>
                        <a:t>Underline </a:t>
                      </a:r>
                      <a:r>
                        <a:rPr sz="1000" b="1" dirty="0" err="1">
                          <a:solidFill>
                            <a:srgbClr val="2D3436"/>
                          </a:solidFill>
                        </a:rPr>
                        <a:t>下划线</a:t>
                      </a:r>
                      <a:endParaRPr sz="1000" b="1" dirty="0">
                        <a:solidFill>
                          <a:srgbClr val="2D3436"/>
                        </a:solidFill>
                      </a:endParaRPr>
                    </a:p>
                  </a:txBody>
                  <a:tcPr anchor="ctr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u="sng" dirty="0"/>
                        <a:t>This text is underlined</a:t>
                      </a:r>
                    </a:p>
                  </a:txBody>
                  <a:tcPr anchor="ctr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7F8C8D"/>
                          </a:solidFill>
                        </a:rPr>
                        <a:t>下划线+橙色</a:t>
                      </a:r>
                    </a:p>
                  </a:txBody>
                  <a:tcPr anchor="ctr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u="sng">
                          <a:solidFill>
                            <a:srgbClr val="E8651A"/>
                          </a:solidFill>
                        </a:rPr>
                        <a:t>Orange Underline</a:t>
                      </a:r>
                    </a:p>
                  </a:txBody>
                  <a:tcPr anchor="ctr">
                    <a:solidFill>
                      <a:srgbClr val="FF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D3436"/>
                          </a:solidFill>
                        </a:rPr>
                        <a:t>Strike 删除线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strike="sngStrike" dirty="0"/>
                        <a:t>This text has strikethrough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7F8C8D"/>
                          </a:solidFill>
                        </a:rPr>
                        <a:t>删除线+斜体</a:t>
                      </a:r>
                      <a:endParaRPr sz="1000" dirty="0">
                        <a:solidFill>
                          <a:srgbClr val="7F8C8D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i="1" strike="sngStrike"/>
                        <a:t>Italic Strikethrough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2D3436"/>
                          </a:solidFill>
                        </a:rPr>
                        <a:t>Bold+Color</a:t>
                      </a:r>
                      <a:endParaRPr sz="1000" b="1" dirty="0">
                        <a:solidFill>
                          <a:srgbClr val="2D3436"/>
                        </a:solidFill>
                      </a:endParaRPr>
                    </a:p>
                  </a:txBody>
                  <a:tcPr anchor="ctr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651A"/>
                          </a:solidFill>
                        </a:rPr>
                        <a:t>Bold Orange Text</a:t>
                      </a:r>
                    </a:p>
                  </a:txBody>
                  <a:tcPr anchor="ctr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7F8C8D"/>
                          </a:solidFill>
                        </a:rPr>
                        <a:t>全组合</a:t>
                      </a:r>
                      <a:endParaRPr sz="1000" dirty="0">
                        <a:solidFill>
                          <a:srgbClr val="7F8C8D"/>
                        </a:solidFill>
                      </a:endParaRPr>
                    </a:p>
                  </a:txBody>
                  <a:tcPr anchor="ctr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1" u="sng" strike="sngStrike" dirty="0"/>
                        <a:t>Bold Italic Underline Strike</a:t>
                      </a:r>
                    </a:p>
                  </a:txBody>
                  <a:tcPr anchor="ctr">
                    <a:solidFill>
                      <a:srgbClr val="FF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D3436"/>
                          </a:solidFill>
                        </a:rPr>
                        <a:t>Normal 正常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Normal text for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7F8C8D"/>
                          </a:solidFill>
                        </a:rPr>
                        <a:t>仅颜色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F5A623"/>
                          </a:solidFill>
                        </a:rPr>
                        <a:t>Amber colored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74320"/>
            <a:ext cx="502920" cy="50292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D3436"/>
                </a:solidFill>
              </a:rPr>
              <a:t>页脚 / 页码 / 日期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5836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F8C8D"/>
                </a:solidFill>
              </a:rPr>
              <a:t>验证 hf 占位符自动填充 (ftr / sldNum / dt)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F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71600" y="1417320"/>
            <a:ext cx="548640" cy="548640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D3436"/>
                </a:solidFill>
              </a:rPr>
              <a:t>页脚 (ftr)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8651A"/>
                </a:solidFill>
              </a:rPr>
              <a:t>PPTX Feature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7F8C8D"/>
                </a:solidFill>
              </a:rPr>
              <a:t>应在幻灯片底部中央显示自定义页脚文本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28016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206240" y="1417320"/>
            <a:ext cx="548640" cy="548640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05740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D3436"/>
                </a:solidFill>
              </a:rPr>
              <a:t>页码 (sldNum)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3172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8651A"/>
                </a:solidFill>
              </a:rPr>
              <a:t>&lt;#&gt;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517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7F8C8D"/>
                </a:solidFill>
              </a:rPr>
              <a:t>应显示当前幻灯片编号，如本页为第 8 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28016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040880" y="1417320"/>
            <a:ext cx="548640" cy="548640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5740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D3436"/>
                </a:solidFill>
              </a:rPr>
              <a:t>日期 (dt)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3172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8651A"/>
                </a:solidFill>
              </a:rPr>
              <a:t>2026-02-26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517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7F8C8D"/>
                </a:solidFill>
              </a:rPr>
              <a:t>可设为固定日期或自动更新日期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29184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7F8C8D"/>
                </a:solidFill>
              </a:rPr>
              <a:t>💡 如果占位符为空白，说明 viewer 尚未解析 p:hf 配置并填充值</a:t>
            </a:r>
          </a:p>
        </p:txBody>
      </p:sp>
      <p:sp>
        <p:nvSpPr>
          <p:cNvPr id="100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3810000" cy="365125"/>
          </a:xfrm>
        </p:spPr>
        <p:txBody>
          <a:bodyPr/>
          <a:lstStyle/>
          <a:p>
            <a:r>
              <a:rPr lang="en-US" sz="1000"/>
              <a:t>PPTX Feature Test</a:t>
            </a:r>
          </a:p>
        </p:txBody>
      </p:sp>
      <p:sp>
        <p:nvSpPr>
          <p:cNvPr id="10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7010400" y="4767264"/>
            <a:ext cx="2133600" cy="365125"/>
          </a:xfrm>
        </p:spPr>
        <p:txBody>
          <a:bodyPr/>
          <a:lstStyle/>
          <a:p>
            <a:fld id="{B6F15528-F159-4107-BF57-3F5A8E91A87E}" type="slidenum">
              <a:rPr lang="en-US" sz="1000"/>
              <a:t>8</a:t>
            </a:fld>
            <a:endParaRPr lang="en-US" sz="1000"/>
          </a:p>
        </p:txBody>
      </p:sp>
      <p:sp>
        <p:nvSpPr>
          <p:cNvPr id="102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365125"/>
          </a:xfrm>
        </p:spPr>
        <p:txBody>
          <a:bodyPr/>
          <a:lstStyle/>
          <a:p>
            <a:r>
              <a:rPr lang="en-US" sz="1000"/>
              <a:t>2026-02-26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74320"/>
            <a:ext cx="502920" cy="50292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D3436"/>
                </a:solidFill>
              </a:rPr>
              <a:t>文本框多列布局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5836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 dirty="0" err="1">
                <a:solidFill>
                  <a:srgbClr val="7F8C8D"/>
                </a:solidFill>
              </a:rPr>
              <a:t>验证</a:t>
            </a:r>
            <a:r>
              <a:rPr sz="1100" i="1" dirty="0">
                <a:solidFill>
                  <a:srgbClr val="7F8C8D"/>
                </a:solidFill>
              </a:rPr>
              <a:t> </a:t>
            </a:r>
            <a:r>
              <a:rPr sz="1100" i="1" dirty="0" err="1">
                <a:solidFill>
                  <a:srgbClr val="7F8C8D"/>
                </a:solidFill>
              </a:rPr>
              <a:t>bodyPr</a:t>
            </a:r>
            <a:r>
              <a:rPr sz="1100" i="1" dirty="0">
                <a:solidFill>
                  <a:srgbClr val="7F8C8D"/>
                </a:solidFill>
              </a:rPr>
              <a:t> </a:t>
            </a:r>
            <a:r>
              <a:rPr sz="1100" i="1" dirty="0" err="1">
                <a:solidFill>
                  <a:srgbClr val="7F8C8D"/>
                </a:solidFill>
              </a:rPr>
              <a:t>numCol</a:t>
            </a:r>
            <a:r>
              <a:rPr sz="1100" i="1" dirty="0">
                <a:solidFill>
                  <a:srgbClr val="7F8C8D"/>
                </a:solidFill>
              </a:rPr>
              <a:t> + </a:t>
            </a:r>
            <a:r>
              <a:rPr sz="1100" i="1" dirty="0" err="1">
                <a:solidFill>
                  <a:srgbClr val="7F8C8D"/>
                </a:solidFill>
              </a:rPr>
              <a:t>spcCol</a:t>
            </a:r>
            <a:r>
              <a:rPr sz="1100" i="1" dirty="0">
                <a:solidFill>
                  <a:srgbClr val="7F8C8D"/>
                </a:solidFill>
              </a:rPr>
              <a:t> </a:t>
            </a:r>
            <a:r>
              <a:rPr sz="1100" i="1" dirty="0" err="1">
                <a:solidFill>
                  <a:srgbClr val="7F8C8D"/>
                </a:solidFill>
              </a:rPr>
              <a:t>解析</a:t>
            </a:r>
            <a:endParaRPr sz="1100" i="1" dirty="0">
              <a:solidFill>
                <a:srgbClr val="7F8C8D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F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8651A"/>
                </a:solidFill>
              </a:rPr>
              <a:t>● 双栏文本 (numCol=2)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8321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</p:spPr>
        <p:txBody>
          <a:bodyPr wrap="square" numCol="2" spcCol="274320">
            <a:noAutofit/>
          </a:bodyPr>
          <a:lstStyle/>
          <a:p>
            <a:r>
              <a:rPr sz="1000">
                <a:solidFill>
                  <a:srgbClr val="2D3436"/>
                </a:solidFill>
              </a:rPr>
              <a:t>这是第一段内容，验证双栏文本布局。在 PowerPoint 中，bodyPr 的 numCol 属性可以指定文本框的列数，文本溢出后自动流入下一列。这是一个非常实用的功能。</a:t>
            </a:r>
          </a:p>
          <a:p>
            <a:r>
              <a:rPr sz="1000">
                <a:solidFill>
                  <a:srgbClr val="2D3436"/>
                </a:solidFill>
              </a:rPr>
              <a:t>这是第二段内容。如果双栏功能正常，这些文字应该均匀分布在两列中，并且列间有可见的 spcCol 间距分隔。多列布局常用于报纸、杂志风格的排版。</a:t>
            </a:r>
          </a:p>
          <a:p>
            <a:r>
              <a:rPr sz="1000">
                <a:solidFill>
                  <a:srgbClr val="2D3436"/>
                </a:solidFill>
              </a:rPr>
              <a:t>If this feature works correctly, you should see text split across two columns with a visible gap between them. This paragraph adds more content to ensure the text overflows into the second column properly.</a:t>
            </a:r>
          </a:p>
          <a:p>
            <a:r>
              <a:rPr sz="1000">
                <a:solidFill>
                  <a:srgbClr val="2D3436"/>
                </a:solidFill>
              </a:rPr>
              <a:t>第四段内容继续填充文本。PowerPoint 的多列布局是基于文本框高度的固定约束来实现的，当第一列文本填满后，后续文本自动流入第二列显示。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17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8651A"/>
                </a:solidFill>
              </a:rPr>
              <a:t>● 三栏文本 (numCol=3)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91840"/>
            <a:ext cx="8321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8046720" cy="1051560"/>
          </a:xfrm>
          <a:prstGeom prst="rect">
            <a:avLst/>
          </a:prstGeom>
          <a:noFill/>
        </p:spPr>
        <p:txBody>
          <a:bodyPr wrap="square" numCol="3" spcCol="182880">
            <a:noAutofit/>
          </a:bodyPr>
          <a:lstStyle/>
          <a:p>
            <a:r>
              <a:rPr sz="900" dirty="0">
                <a:solidFill>
                  <a:srgbClr val="2D3436"/>
                </a:solidFill>
              </a:rPr>
              <a:t>Column 1: Lorem ipsum dolor sit </a:t>
            </a:r>
            <a:r>
              <a:rPr sz="900" dirty="0" err="1">
                <a:solidFill>
                  <a:srgbClr val="2D3436"/>
                </a:solidFill>
              </a:rPr>
              <a:t>amet</a:t>
            </a:r>
            <a:r>
              <a:rPr sz="900" dirty="0">
                <a:solidFill>
                  <a:srgbClr val="2D3436"/>
                </a:solidFill>
              </a:rPr>
              <a:t>, </a:t>
            </a:r>
            <a:r>
              <a:rPr sz="900" dirty="0" err="1">
                <a:solidFill>
                  <a:srgbClr val="2D3436"/>
                </a:solidFill>
              </a:rPr>
              <a:t>consectetur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adipiscing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elit</a:t>
            </a:r>
            <a:r>
              <a:rPr sz="900" dirty="0">
                <a:solidFill>
                  <a:srgbClr val="2D3436"/>
                </a:solidFill>
              </a:rPr>
              <a:t>. Sed do </a:t>
            </a:r>
            <a:r>
              <a:rPr sz="900" dirty="0" err="1">
                <a:solidFill>
                  <a:srgbClr val="2D3436"/>
                </a:solidFill>
              </a:rPr>
              <a:t>eiusmod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tempor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incididunt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ut</a:t>
            </a:r>
            <a:r>
              <a:rPr sz="900" dirty="0">
                <a:solidFill>
                  <a:srgbClr val="2D3436"/>
                </a:solidFill>
              </a:rPr>
              <a:t> labore et dolore magna </a:t>
            </a:r>
            <a:r>
              <a:rPr sz="900" dirty="0" err="1">
                <a:solidFill>
                  <a:srgbClr val="2D3436"/>
                </a:solidFill>
              </a:rPr>
              <a:t>aliqua</a:t>
            </a:r>
            <a:r>
              <a:rPr sz="900" dirty="0">
                <a:solidFill>
                  <a:srgbClr val="2D3436"/>
                </a:solidFill>
              </a:rPr>
              <a:t>. Ut </a:t>
            </a:r>
            <a:r>
              <a:rPr sz="900" dirty="0" err="1">
                <a:solidFill>
                  <a:srgbClr val="2D3436"/>
                </a:solidFill>
              </a:rPr>
              <a:t>enim</a:t>
            </a:r>
            <a:r>
              <a:rPr sz="900" dirty="0">
                <a:solidFill>
                  <a:srgbClr val="2D3436"/>
                </a:solidFill>
              </a:rPr>
              <a:t> ad minim </a:t>
            </a:r>
            <a:r>
              <a:rPr sz="900" dirty="0" err="1">
                <a:solidFill>
                  <a:srgbClr val="2D3436"/>
                </a:solidFill>
              </a:rPr>
              <a:t>veniam</a:t>
            </a:r>
            <a:r>
              <a:rPr sz="900" dirty="0">
                <a:solidFill>
                  <a:srgbClr val="2D3436"/>
                </a:solidFill>
              </a:rPr>
              <a:t>, </a:t>
            </a:r>
            <a:r>
              <a:rPr sz="900" dirty="0" err="1">
                <a:solidFill>
                  <a:srgbClr val="2D3436"/>
                </a:solidFill>
              </a:rPr>
              <a:t>quis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nostrud</a:t>
            </a:r>
            <a:r>
              <a:rPr sz="900" dirty="0">
                <a:solidFill>
                  <a:srgbClr val="2D3436"/>
                </a:solidFill>
              </a:rPr>
              <a:t> exercitation.</a:t>
            </a:r>
          </a:p>
          <a:p>
            <a:r>
              <a:rPr sz="900" dirty="0">
                <a:solidFill>
                  <a:srgbClr val="2D3436"/>
                </a:solidFill>
              </a:rPr>
              <a:t>Column 2: </a:t>
            </a:r>
            <a:r>
              <a:rPr sz="900" dirty="0" err="1">
                <a:solidFill>
                  <a:srgbClr val="2D3436"/>
                </a:solidFill>
              </a:rPr>
              <a:t>Ullamco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laboris</a:t>
            </a:r>
            <a:r>
              <a:rPr sz="900" dirty="0">
                <a:solidFill>
                  <a:srgbClr val="2D3436"/>
                </a:solidFill>
              </a:rPr>
              <a:t> nisi </a:t>
            </a:r>
            <a:r>
              <a:rPr sz="900" dirty="0" err="1">
                <a:solidFill>
                  <a:srgbClr val="2D3436"/>
                </a:solidFill>
              </a:rPr>
              <a:t>ut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aliquip</a:t>
            </a:r>
            <a:r>
              <a:rPr sz="900" dirty="0">
                <a:solidFill>
                  <a:srgbClr val="2D3436"/>
                </a:solidFill>
              </a:rPr>
              <a:t> ex </a:t>
            </a:r>
            <a:r>
              <a:rPr sz="900" dirty="0" err="1">
                <a:solidFill>
                  <a:srgbClr val="2D3436"/>
                </a:solidFill>
              </a:rPr>
              <a:t>ea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commodo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consequat</a:t>
            </a:r>
            <a:r>
              <a:rPr sz="900" dirty="0">
                <a:solidFill>
                  <a:srgbClr val="2D3436"/>
                </a:solidFill>
              </a:rPr>
              <a:t>. Duis </a:t>
            </a:r>
            <a:r>
              <a:rPr sz="900" dirty="0" err="1">
                <a:solidFill>
                  <a:srgbClr val="2D3436"/>
                </a:solidFill>
              </a:rPr>
              <a:t>aute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irure</a:t>
            </a:r>
            <a:r>
              <a:rPr sz="900" dirty="0">
                <a:solidFill>
                  <a:srgbClr val="2D3436"/>
                </a:solidFill>
              </a:rPr>
              <a:t> dolor in </a:t>
            </a:r>
            <a:r>
              <a:rPr sz="900" dirty="0" err="1">
                <a:solidFill>
                  <a:srgbClr val="2D3436"/>
                </a:solidFill>
              </a:rPr>
              <a:t>reprehenderit</a:t>
            </a:r>
            <a:r>
              <a:rPr sz="900" dirty="0">
                <a:solidFill>
                  <a:srgbClr val="2D3436"/>
                </a:solidFill>
              </a:rPr>
              <a:t> in </a:t>
            </a:r>
            <a:r>
              <a:rPr sz="900" dirty="0" err="1">
                <a:solidFill>
                  <a:srgbClr val="2D3436"/>
                </a:solidFill>
              </a:rPr>
              <a:t>voluptate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velit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esse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cillum</a:t>
            </a:r>
            <a:r>
              <a:rPr sz="900" dirty="0">
                <a:solidFill>
                  <a:srgbClr val="2D3436"/>
                </a:solidFill>
              </a:rPr>
              <a:t> dolore </a:t>
            </a:r>
            <a:r>
              <a:rPr sz="900" dirty="0" err="1">
                <a:solidFill>
                  <a:srgbClr val="2D3436"/>
                </a:solidFill>
              </a:rPr>
              <a:t>eu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fugiat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nulla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pariatur</a:t>
            </a:r>
            <a:r>
              <a:rPr sz="900" dirty="0">
                <a:solidFill>
                  <a:srgbClr val="2D3436"/>
                </a:solidFill>
              </a:rPr>
              <a:t>.</a:t>
            </a:r>
          </a:p>
          <a:p>
            <a:r>
              <a:rPr sz="900" dirty="0">
                <a:solidFill>
                  <a:srgbClr val="2D3436"/>
                </a:solidFill>
              </a:rPr>
              <a:t>Column 3: </a:t>
            </a:r>
            <a:r>
              <a:rPr sz="900" dirty="0" err="1">
                <a:solidFill>
                  <a:srgbClr val="2D3436"/>
                </a:solidFill>
              </a:rPr>
              <a:t>Excepteur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sint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occaecat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cupidatat</a:t>
            </a:r>
            <a:r>
              <a:rPr sz="900" dirty="0">
                <a:solidFill>
                  <a:srgbClr val="2D3436"/>
                </a:solidFill>
              </a:rPr>
              <a:t> non </a:t>
            </a:r>
            <a:r>
              <a:rPr sz="900" dirty="0" err="1">
                <a:solidFill>
                  <a:srgbClr val="2D3436"/>
                </a:solidFill>
              </a:rPr>
              <a:t>proident</a:t>
            </a:r>
            <a:r>
              <a:rPr sz="900" dirty="0">
                <a:solidFill>
                  <a:srgbClr val="2D3436"/>
                </a:solidFill>
              </a:rPr>
              <a:t>, sunt in culpa qui </a:t>
            </a:r>
            <a:r>
              <a:rPr sz="900" dirty="0" err="1">
                <a:solidFill>
                  <a:srgbClr val="2D3436"/>
                </a:solidFill>
              </a:rPr>
              <a:t>officia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deserunt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mollit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anim</a:t>
            </a:r>
            <a:r>
              <a:rPr sz="900" dirty="0">
                <a:solidFill>
                  <a:srgbClr val="2D3436"/>
                </a:solidFill>
              </a:rPr>
              <a:t> id </a:t>
            </a:r>
            <a:r>
              <a:rPr sz="900" dirty="0" err="1">
                <a:solidFill>
                  <a:srgbClr val="2D3436"/>
                </a:solidFill>
              </a:rPr>
              <a:t>est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laborum</a:t>
            </a:r>
            <a:r>
              <a:rPr sz="900" dirty="0">
                <a:solidFill>
                  <a:srgbClr val="2D3436"/>
                </a:solidFill>
              </a:rPr>
              <a:t>. Sed </a:t>
            </a:r>
            <a:r>
              <a:rPr sz="900" dirty="0" err="1">
                <a:solidFill>
                  <a:srgbClr val="2D3436"/>
                </a:solidFill>
              </a:rPr>
              <a:t>ut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perspiciatis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unde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omnis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iste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natus</a:t>
            </a:r>
            <a:r>
              <a:rPr sz="900" dirty="0">
                <a:solidFill>
                  <a:srgbClr val="2D3436"/>
                </a:solidFill>
              </a:rPr>
              <a:t> error sit </a:t>
            </a:r>
            <a:r>
              <a:rPr sz="900" dirty="0" err="1">
                <a:solidFill>
                  <a:srgbClr val="2D3436"/>
                </a:solidFill>
              </a:rPr>
              <a:t>voluptatem</a:t>
            </a:r>
            <a:r>
              <a:rPr sz="900" dirty="0">
                <a:solidFill>
                  <a:srgbClr val="2D3436"/>
                </a:solidFill>
              </a:rPr>
              <a:t>.</a:t>
            </a:r>
          </a:p>
          <a:p>
            <a:r>
              <a:rPr sz="900" dirty="0">
                <a:solidFill>
                  <a:srgbClr val="2D3436"/>
                </a:solidFill>
              </a:rPr>
              <a:t>Extra: This additional text should overflow into whichever column has space remaining, demonstrating the multi-column text flow behavior of OOXML </a:t>
            </a:r>
            <a:r>
              <a:rPr sz="900" dirty="0" err="1">
                <a:solidFill>
                  <a:srgbClr val="2D3436"/>
                </a:solidFill>
              </a:rPr>
              <a:t>bodyPr</a:t>
            </a:r>
            <a:r>
              <a:rPr sz="900" dirty="0">
                <a:solidFill>
                  <a:srgbClr val="2D3436"/>
                </a:solidFill>
              </a:rPr>
              <a:t> </a:t>
            </a:r>
            <a:r>
              <a:rPr sz="900" dirty="0" err="1">
                <a:solidFill>
                  <a:srgbClr val="2D3436"/>
                </a:solidFill>
              </a:rPr>
              <a:t>numCol</a:t>
            </a:r>
            <a:r>
              <a:rPr sz="900" dirty="0">
                <a:solidFill>
                  <a:srgbClr val="2D3436"/>
                </a:solidFill>
              </a:rPr>
              <a:t> attribute. Nam libero tempore.</a:t>
            </a:r>
          </a:p>
          <a:p>
            <a:r>
              <a:rPr sz="900" dirty="0" err="1">
                <a:solidFill>
                  <a:srgbClr val="2D3436"/>
                </a:solidFill>
              </a:rPr>
              <a:t>补充段落：多列文本是</a:t>
            </a:r>
            <a:r>
              <a:rPr sz="900" dirty="0">
                <a:solidFill>
                  <a:srgbClr val="2D3436"/>
                </a:solidFill>
              </a:rPr>
              <a:t> PowerPoint </a:t>
            </a:r>
            <a:r>
              <a:rPr sz="900" dirty="0" err="1">
                <a:solidFill>
                  <a:srgbClr val="2D3436"/>
                </a:solidFill>
              </a:rPr>
              <a:t>中一个实用的排版功能，常用于新闻、报纸、杂志风格的幻灯片设计，让内容更紧凑、更专业。此段文字用于确保三列均有内容填充</a:t>
            </a:r>
            <a:r>
              <a:rPr sz="900" dirty="0">
                <a:solidFill>
                  <a:srgbClr val="2D3436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74320"/>
            <a:ext cx="502920" cy="50292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D3436"/>
                </a:solidFill>
              </a:rPr>
              <a:t>超链接 tooltip /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5836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F8C8D"/>
                </a:solidFill>
              </a:rPr>
              <a:t>验证 tooltip、hlinkMouseOver、ppaction://hlinksldjump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F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8321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35400"/>
                </a:solidFill>
                <a:hlinkClick r:id="rId2" tooltip="点击访问 GitHub 官网"/>
              </a:rPr>
              <a:t>Web 链接 + tooltip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8132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https://github.com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E8651A"/>
                </a:solidFill>
              </a:rPr>
              <a:t>tooltip: "点击访问 GitHub 官网"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20240"/>
            <a:ext cx="8321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65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35400"/>
                </a:solidFill>
                <a:hlinkClick r:id="rId3"/>
              </a:rPr>
              <a:t>Web 链接无 tooltip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2128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https://www.google.com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651760"/>
            <a:ext cx="8321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35400"/>
                </a:solidFill>
                <a:hlinkClick r:id="rId4" tooltip="鼠标悬停时应显示此提示"/>
              </a:rPr>
              <a:t>带 tooltip 的链接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9443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https://example.com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788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E8651A"/>
                </a:solidFill>
              </a:rPr>
              <a:t>tooltip: "鼠标悬停时应显示此提示"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383280"/>
            <a:ext cx="8321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429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392B"/>
                </a:solidFill>
                <a:hlinkClick r:id="rId5" action="ppaction://hlinksldjump" tooltip="跳转到第 1 页"/>
              </a:rPr>
              <a:t>幻灯片跳转 (ppaction)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67588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跳转到第 1 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520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E8651A"/>
                </a:solidFill>
              </a:rPr>
              <a:t>tooltip: "跳转到第 1 页"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114800"/>
            <a:ext cx="8321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48640" y="4206240"/>
            <a:ext cx="384048" cy="384048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160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AE60"/>
                </a:solidFill>
                <a:hlinkMouseOver r:id="rId6" tooltip="这是鼠标悬停提示文本"/>
              </a:rPr>
              <a:t>鼠标悬停 (hlinkMouseOver)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0740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这是鼠标悬停提示文本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251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E8651A"/>
                </a:solidFill>
              </a:rPr>
              <a:t>tooltip: "这是鼠标悬停提示文本"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74320"/>
            <a:ext cx="502920" cy="50292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D3436"/>
                </a:solidFill>
              </a:rPr>
              <a:t>Tab Stops 制表位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5836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F8C8D"/>
                </a:solidFill>
              </a:rPr>
              <a:t>验证 a:tabLst / a:tab 解析（left / center / right / decimal）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F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8651A"/>
                </a:solidFill>
              </a:rPr>
              <a:t>● 商品价目表（Tab 对齐）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83210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795527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560320" algn="l"/>
                <a:tab pos="4754880" algn="ctr"/>
                <a:tab pos="7132320" algn="r"/>
              </a:tabLst>
            </a:pPr>
            <a:r>
              <a:rPr sz="1300" b="1" dirty="0" err="1">
                <a:solidFill>
                  <a:srgbClr val="E8651A"/>
                </a:solidFill>
              </a:rPr>
              <a:t>商品名称</a:t>
            </a:r>
            <a:r>
              <a:rPr sz="1300" b="1" dirty="0">
                <a:solidFill>
                  <a:srgbClr val="E8651A"/>
                </a:solidFill>
              </a:rPr>
              <a:t>	</a:t>
            </a:r>
            <a:r>
              <a:rPr sz="1300" b="1" dirty="0" err="1">
                <a:solidFill>
                  <a:srgbClr val="E8651A"/>
                </a:solidFill>
              </a:rPr>
              <a:t>单价</a:t>
            </a:r>
            <a:r>
              <a:rPr sz="1300" b="1" dirty="0">
                <a:solidFill>
                  <a:srgbClr val="E8651A"/>
                </a:solidFill>
              </a:rPr>
              <a:t>	</a:t>
            </a:r>
            <a:r>
              <a:rPr sz="1300" b="1" dirty="0" err="1">
                <a:solidFill>
                  <a:srgbClr val="E8651A"/>
                </a:solidFill>
              </a:rPr>
              <a:t>数量</a:t>
            </a:r>
            <a:r>
              <a:rPr sz="1300" b="1" dirty="0">
                <a:solidFill>
                  <a:srgbClr val="E8651A"/>
                </a:solidFill>
              </a:rPr>
              <a:t>	</a:t>
            </a:r>
            <a:r>
              <a:rPr sz="1300" b="1" dirty="0" err="1">
                <a:solidFill>
                  <a:srgbClr val="E8651A"/>
                </a:solidFill>
              </a:rPr>
              <a:t>小计</a:t>
            </a:r>
            <a:endParaRPr sz="1300" b="1" dirty="0">
              <a:solidFill>
                <a:srgbClr val="E8651A"/>
              </a:solidFill>
            </a:endParaRPr>
          </a:p>
          <a:p>
            <a:r>
              <a:rPr sz="700" dirty="0">
                <a:solidFill>
                  <a:srgbClr val="E0D0C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tabLst>
                <a:tab pos="2560320" algn="l"/>
                <a:tab pos="4754880" algn="ctr"/>
                <a:tab pos="7132320" algn="r"/>
              </a:tabLst>
            </a:pPr>
            <a:r>
              <a:rPr sz="1100" dirty="0">
                <a:solidFill>
                  <a:srgbClr val="2D3436"/>
                </a:solidFill>
              </a:rPr>
              <a:t>MacBook Pro 14"	¥15,999.00	1	¥15,999.00</a:t>
            </a:r>
          </a:p>
          <a:p>
            <a:pPr>
              <a:tabLst>
                <a:tab pos="2560320" algn="l"/>
                <a:tab pos="4754880" algn="ctr"/>
                <a:tab pos="7132320" algn="r"/>
              </a:tabLst>
            </a:pPr>
            <a:r>
              <a:rPr sz="1100" dirty="0">
                <a:solidFill>
                  <a:srgbClr val="2D3436"/>
                </a:solidFill>
              </a:rPr>
              <a:t>Magic Keyboard	¥999.00	2	¥1,998.00</a:t>
            </a:r>
          </a:p>
          <a:p>
            <a:pPr>
              <a:tabLst>
                <a:tab pos="2560320" algn="l"/>
                <a:tab pos="4754880" algn="ctr"/>
                <a:tab pos="7132320" algn="r"/>
              </a:tabLst>
            </a:pPr>
            <a:r>
              <a:rPr sz="1100" dirty="0" err="1">
                <a:solidFill>
                  <a:srgbClr val="2D3436"/>
                </a:solidFill>
              </a:rPr>
              <a:t>AirPods</a:t>
            </a:r>
            <a:r>
              <a:rPr sz="1100" dirty="0">
                <a:solidFill>
                  <a:srgbClr val="2D3436"/>
                </a:solidFill>
              </a:rPr>
              <a:t> Pro	¥1,899.00	3	¥5,697.00</a:t>
            </a:r>
          </a:p>
          <a:p>
            <a:pPr>
              <a:tabLst>
                <a:tab pos="2560320" algn="l"/>
                <a:tab pos="4754880" algn="ctr"/>
                <a:tab pos="7132320" algn="r"/>
              </a:tabLst>
            </a:pPr>
            <a:r>
              <a:rPr sz="1100" dirty="0">
                <a:solidFill>
                  <a:srgbClr val="2D3436"/>
                </a:solidFill>
              </a:rPr>
              <a:t>Studio Display	¥11,499.00	1	¥11,499.00</a:t>
            </a:r>
          </a:p>
          <a:p>
            <a:pPr>
              <a:tabLst>
                <a:tab pos="2560320" algn="l"/>
                <a:tab pos="4754880" algn="ctr"/>
                <a:tab pos="7132320" algn="r"/>
              </a:tabLst>
            </a:pPr>
            <a:r>
              <a:rPr sz="1100" dirty="0">
                <a:solidFill>
                  <a:srgbClr val="2D3436"/>
                </a:solidFill>
              </a:rPr>
              <a:t>USB-C </a:t>
            </a:r>
            <a:r>
              <a:rPr sz="1100" dirty="0" err="1">
                <a:solidFill>
                  <a:srgbClr val="2D3436"/>
                </a:solidFill>
              </a:rPr>
              <a:t>数据线</a:t>
            </a:r>
            <a:r>
              <a:rPr sz="1100" dirty="0">
                <a:solidFill>
                  <a:srgbClr val="2D3436"/>
                </a:solidFill>
              </a:rPr>
              <a:t>	¥149.00	5	¥745.00</a:t>
            </a:r>
          </a:p>
          <a:p>
            <a:r>
              <a:rPr sz="700" dirty="0">
                <a:solidFill>
                  <a:srgbClr val="E0D0C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tabLst>
                <a:tab pos="2560320" algn="l"/>
                <a:tab pos="4754880" algn="ctr"/>
                <a:tab pos="7132320" algn="dec"/>
              </a:tabLst>
            </a:pPr>
            <a:r>
              <a:rPr sz="1400" b="1" dirty="0" err="1">
                <a:solidFill>
                  <a:srgbClr val="E8651A"/>
                </a:solidFill>
              </a:rPr>
              <a:t>合计</a:t>
            </a:r>
            <a:r>
              <a:rPr sz="1400" b="1">
                <a:solidFill>
                  <a:srgbClr val="E8651A"/>
                </a:solidFill>
              </a:rPr>
              <a:t>			¥35,938.00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74320"/>
            <a:ext cx="502920" cy="50292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D3436"/>
                </a:solidFill>
              </a:rPr>
              <a:t>图案填充 (Pattern Fill)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5836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F8C8D"/>
                </a:solidFill>
              </a:rPr>
              <a:t>验证 a:pattFill 渲染 — 约 50 种 OOXML 预设图案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F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Pattern pct5"/>
          <p:cNvSpPr/>
          <p:nvPr/>
        </p:nvSpPr>
        <p:spPr>
          <a:xfrm>
            <a:off x="411480" y="1188720"/>
            <a:ext cx="1920240" cy="868680"/>
          </a:xfrm>
          <a:prstGeom prst="rect">
            <a:avLst/>
          </a:prstGeom>
          <a:pattFill prst="pct5">
            <a:fgClr>
              <a:srgbClr val="E8651A"/>
            </a:fgClr>
            <a:bgClr>
              <a:srgbClr val="FFF8F0"/>
            </a:bgClr>
          </a:pattFill>
          <a:ln w="9525">
            <a:solidFill>
              <a:srgbClr val="E0D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11480" y="20756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7F8C8D"/>
                </a:solidFill>
              </a:rPr>
              <a:t>5% (pct5)</a:t>
            </a:r>
          </a:p>
        </p:txBody>
      </p:sp>
      <p:sp>
        <p:nvSpPr>
          <p:cNvPr id="7" name="Pattern pct25"/>
          <p:cNvSpPr/>
          <p:nvPr/>
        </p:nvSpPr>
        <p:spPr>
          <a:xfrm>
            <a:off x="2560320" y="1188720"/>
            <a:ext cx="1920240" cy="868680"/>
          </a:xfrm>
          <a:prstGeom prst="rect">
            <a:avLst/>
          </a:prstGeom>
          <a:pattFill prst="pct25">
            <a:fgClr>
              <a:srgbClr val="E8651A"/>
            </a:fgClr>
            <a:bgClr>
              <a:srgbClr val="FFF8F0"/>
            </a:bgClr>
          </a:pattFill>
          <a:ln w="9525">
            <a:solidFill>
              <a:srgbClr val="E0D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560320" y="20756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7F8C8D"/>
                </a:solidFill>
              </a:rPr>
              <a:t>25% (pct25)</a:t>
            </a:r>
          </a:p>
        </p:txBody>
      </p:sp>
      <p:sp>
        <p:nvSpPr>
          <p:cNvPr id="8" name="Pattern pct50"/>
          <p:cNvSpPr/>
          <p:nvPr/>
        </p:nvSpPr>
        <p:spPr>
          <a:xfrm>
            <a:off x="4709160" y="1188720"/>
            <a:ext cx="1920240" cy="868680"/>
          </a:xfrm>
          <a:prstGeom prst="rect">
            <a:avLst/>
          </a:prstGeom>
          <a:pattFill prst="pct50">
            <a:fgClr>
              <a:srgbClr val="E8651A"/>
            </a:fgClr>
            <a:bgClr>
              <a:srgbClr val="FFF8F0"/>
            </a:bgClr>
          </a:pattFill>
          <a:ln w="9525">
            <a:solidFill>
              <a:srgbClr val="E0D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09160" y="20756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7F8C8D"/>
                </a:solidFill>
              </a:rPr>
              <a:t>50% (pct50)</a:t>
            </a:r>
          </a:p>
        </p:txBody>
      </p:sp>
      <p:sp>
        <p:nvSpPr>
          <p:cNvPr id="9" name="Pattern pct75"/>
          <p:cNvSpPr/>
          <p:nvPr/>
        </p:nvSpPr>
        <p:spPr>
          <a:xfrm>
            <a:off x="6858000" y="1188720"/>
            <a:ext cx="1920240" cy="868680"/>
          </a:xfrm>
          <a:prstGeom prst="rect">
            <a:avLst/>
          </a:prstGeom>
          <a:pattFill prst="pct75">
            <a:fgClr>
              <a:srgbClr val="E8651A"/>
            </a:fgClr>
            <a:bgClr>
              <a:srgbClr val="FFF8F0"/>
            </a:bgClr>
          </a:pattFill>
          <a:ln w="9525">
            <a:solidFill>
              <a:srgbClr val="E0D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858000" y="20756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7F8C8D"/>
                </a:solidFill>
              </a:rPr>
              <a:t>75% (pct75)</a:t>
            </a:r>
          </a:p>
        </p:txBody>
      </p:sp>
      <p:sp>
        <p:nvSpPr>
          <p:cNvPr id="10" name="Pattern horz"/>
          <p:cNvSpPr/>
          <p:nvPr/>
        </p:nvSpPr>
        <p:spPr>
          <a:xfrm>
            <a:off x="411480" y="2423160"/>
            <a:ext cx="1920240" cy="868680"/>
          </a:xfrm>
          <a:prstGeom prst="rect">
            <a:avLst/>
          </a:prstGeom>
          <a:pattFill prst="horz">
            <a:fgClr>
              <a:srgbClr val="D35400"/>
            </a:fgClr>
            <a:bgClr>
              <a:srgbClr val="FDEBD0"/>
            </a:bgClr>
          </a:pattFill>
          <a:ln w="9525">
            <a:solidFill>
              <a:srgbClr val="E0D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11480" y="331012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7F8C8D"/>
                </a:solidFill>
              </a:rPr>
              <a:t>水平线 (horz)</a:t>
            </a:r>
          </a:p>
        </p:txBody>
      </p:sp>
      <p:sp>
        <p:nvSpPr>
          <p:cNvPr id="11" name="Pattern vert"/>
          <p:cNvSpPr/>
          <p:nvPr/>
        </p:nvSpPr>
        <p:spPr>
          <a:xfrm>
            <a:off x="2560320" y="2423160"/>
            <a:ext cx="1920240" cy="868680"/>
          </a:xfrm>
          <a:prstGeom prst="rect">
            <a:avLst/>
          </a:prstGeom>
          <a:pattFill prst="vert">
            <a:fgClr>
              <a:srgbClr val="D35400"/>
            </a:fgClr>
            <a:bgClr>
              <a:srgbClr val="FDEBD0"/>
            </a:bgClr>
          </a:pattFill>
          <a:ln w="9525">
            <a:solidFill>
              <a:srgbClr val="E0D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560320" y="331012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7F8C8D"/>
                </a:solidFill>
              </a:rPr>
              <a:t>垂直线 (vert)</a:t>
            </a:r>
          </a:p>
        </p:txBody>
      </p:sp>
      <p:sp>
        <p:nvSpPr>
          <p:cNvPr id="12" name="Pattern dnDiag"/>
          <p:cNvSpPr/>
          <p:nvPr/>
        </p:nvSpPr>
        <p:spPr>
          <a:xfrm>
            <a:off x="4709160" y="2423160"/>
            <a:ext cx="1920240" cy="868680"/>
          </a:xfrm>
          <a:prstGeom prst="rect">
            <a:avLst/>
          </a:prstGeom>
          <a:pattFill prst="dnDiag">
            <a:fgClr>
              <a:srgbClr val="C0392B"/>
            </a:fgClr>
            <a:bgClr>
              <a:srgbClr val="FADBD8"/>
            </a:bgClr>
          </a:pattFill>
          <a:ln w="9525">
            <a:solidFill>
              <a:srgbClr val="E0D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709160" y="331012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7F8C8D"/>
                </a:solidFill>
              </a:rPr>
              <a:t>↘ 对角 (dnDiag)</a:t>
            </a:r>
          </a:p>
        </p:txBody>
      </p:sp>
      <p:sp>
        <p:nvSpPr>
          <p:cNvPr id="13" name="Pattern upDiag"/>
          <p:cNvSpPr/>
          <p:nvPr/>
        </p:nvSpPr>
        <p:spPr>
          <a:xfrm>
            <a:off x="6858000" y="2423160"/>
            <a:ext cx="1920240" cy="868680"/>
          </a:xfrm>
          <a:prstGeom prst="rect">
            <a:avLst/>
          </a:prstGeom>
          <a:pattFill prst="upDiag">
            <a:fgClr>
              <a:srgbClr val="C0392B"/>
            </a:fgClr>
            <a:bgClr>
              <a:srgbClr val="FADBD8"/>
            </a:bgClr>
          </a:pattFill>
          <a:ln w="9525">
            <a:solidFill>
              <a:srgbClr val="E0D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858000" y="331012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7F8C8D"/>
                </a:solidFill>
              </a:rPr>
              <a:t>↗ 对角 (upDiag)</a:t>
            </a:r>
          </a:p>
        </p:txBody>
      </p:sp>
      <p:sp>
        <p:nvSpPr>
          <p:cNvPr id="14" name="Pattern ltDnDiag"/>
          <p:cNvSpPr/>
          <p:nvPr/>
        </p:nvSpPr>
        <p:spPr>
          <a:xfrm>
            <a:off x="411480" y="3657600"/>
            <a:ext cx="1920240" cy="868680"/>
          </a:xfrm>
          <a:prstGeom prst="rect">
            <a:avLst/>
          </a:prstGeom>
          <a:pattFill prst="ltDnDiag">
            <a:fgClr>
              <a:srgbClr val="27AE60"/>
            </a:fgClr>
            <a:bgClr>
              <a:srgbClr val="EAFAF1"/>
            </a:bgClr>
          </a:pattFill>
          <a:ln w="9525">
            <a:solidFill>
              <a:srgbClr val="E0D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11480" y="45445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7F8C8D"/>
                </a:solidFill>
              </a:rPr>
              <a:t>浅↘ (ltDnDiag)</a:t>
            </a:r>
          </a:p>
        </p:txBody>
      </p:sp>
      <p:sp>
        <p:nvSpPr>
          <p:cNvPr id="15" name="Pattern ltUpDiag"/>
          <p:cNvSpPr/>
          <p:nvPr/>
        </p:nvSpPr>
        <p:spPr>
          <a:xfrm>
            <a:off x="2560320" y="3657600"/>
            <a:ext cx="1920240" cy="868680"/>
          </a:xfrm>
          <a:prstGeom prst="rect">
            <a:avLst/>
          </a:prstGeom>
          <a:pattFill prst="ltUpDiag">
            <a:fgClr>
              <a:srgbClr val="27AE60"/>
            </a:fgClr>
            <a:bgClr>
              <a:srgbClr val="EAFAF1"/>
            </a:bgClr>
          </a:pattFill>
          <a:ln w="9525">
            <a:solidFill>
              <a:srgbClr val="E0D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560320" y="45445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7F8C8D"/>
                </a:solidFill>
              </a:rPr>
              <a:t>浅↗ (ltUpDiag)</a:t>
            </a:r>
          </a:p>
        </p:txBody>
      </p:sp>
      <p:sp>
        <p:nvSpPr>
          <p:cNvPr id="16" name="Pattern cross"/>
          <p:cNvSpPr/>
          <p:nvPr/>
        </p:nvSpPr>
        <p:spPr>
          <a:xfrm>
            <a:off x="4709160" y="3657600"/>
            <a:ext cx="1920240" cy="868680"/>
          </a:xfrm>
          <a:prstGeom prst="rect">
            <a:avLst/>
          </a:prstGeom>
          <a:pattFill prst="cross">
            <a:fgClr>
              <a:srgbClr val="2D3436"/>
            </a:fgClr>
            <a:bgClr>
              <a:srgbClr val="F0F0F0"/>
            </a:bgClr>
          </a:pattFill>
          <a:ln w="9525">
            <a:solidFill>
              <a:srgbClr val="E0D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709160" y="45445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7F8C8D"/>
                </a:solidFill>
              </a:rPr>
              <a:t>十字 (cross)</a:t>
            </a:r>
          </a:p>
        </p:txBody>
      </p:sp>
      <p:sp>
        <p:nvSpPr>
          <p:cNvPr id="17" name="Pattern diagCross"/>
          <p:cNvSpPr/>
          <p:nvPr/>
        </p:nvSpPr>
        <p:spPr>
          <a:xfrm>
            <a:off x="6858000" y="3657600"/>
            <a:ext cx="1920240" cy="868680"/>
          </a:xfrm>
          <a:prstGeom prst="rect">
            <a:avLst/>
          </a:prstGeom>
          <a:pattFill prst="diagCross">
            <a:fgClr>
              <a:srgbClr val="2D3436"/>
            </a:fgClr>
            <a:bgClr>
              <a:srgbClr val="F0F0F0"/>
            </a:bgClr>
          </a:pattFill>
          <a:ln w="9525">
            <a:solidFill>
              <a:srgbClr val="E0D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858000" y="45445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7F8C8D"/>
                </a:solidFill>
              </a:rPr>
              <a:t>斜十字 (diagCross)</a:t>
            </a:r>
          </a:p>
        </p:txBody>
      </p:sp>
    </p:spTree>
  </p:cSld>
  <p:clrMapOvr>
    <a:masterClrMapping/>
  </p:clrMapOvr>
  <p:transition spd="med" advTm="50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74320"/>
            <a:ext cx="502920" cy="50292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D3436"/>
                </a:solidFill>
              </a:rPr>
              <a:t>过渡动画 · 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5836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F8C8D"/>
                </a:solidFill>
              </a:rPr>
              <a:t>本页: push 推入效果（从左侧进入）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F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371600"/>
            <a:ext cx="6400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1645920"/>
            <a:ext cx="6126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E8651A"/>
                </a:solidFill>
              </a:rPr>
              <a:t>← push 从左推入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7744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7F8C8D"/>
                </a:solidFill>
              </a:rPr>
              <a:t>过渡类型: push</a:t>
            </a:r>
          </a:p>
          <a:p>
            <a:pPr algn="ctr"/>
            <a:r>
              <a:rPr sz="1300">
                <a:solidFill>
                  <a:srgbClr val="7F8C8D"/>
                </a:solidFill>
              </a:rPr>
              <a:t>方向: dir="l"（从左）</a:t>
            </a:r>
          </a:p>
          <a:p>
            <a:pPr algn="ctr"/>
            <a:r>
              <a:rPr sz="1300">
                <a:solidFill>
                  <a:srgbClr val="7F8C8D"/>
                </a:solidFill>
              </a:rPr>
              <a:t>过渡速度: slow</a:t>
            </a: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74320"/>
            <a:ext cx="502920" cy="50292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D3436"/>
                </a:solidFill>
              </a:rPr>
              <a:t>非矩形图片裁剪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5836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F8C8D"/>
                </a:solidFill>
              </a:rPr>
              <a:t>验证 clip.shape → CSS clip-path 映射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F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llipse 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1874519" cy="1874519"/>
          </a:xfrm>
          <a:prstGeom prst="ellipse">
            <a:avLst/>
          </a:prstGeom>
          <a:ln w="9525">
            <a:solidFill>
              <a:srgbClr val="E0D0C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11480" y="3136391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3436"/>
                </a:solidFill>
              </a:rPr>
              <a:t>椭圆
(ellipse)</a:t>
            </a:r>
          </a:p>
        </p:txBody>
      </p:sp>
      <p:pic>
        <p:nvPicPr>
          <p:cNvPr id="9" name="RoundRect 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188720"/>
            <a:ext cx="1874519" cy="1874519"/>
          </a:xfrm>
          <a:prstGeom prst="roundRect">
            <a:avLst/>
          </a:prstGeom>
          <a:ln w="9525">
            <a:solidFill>
              <a:srgbClr val="E0D0C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560320" y="3136391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3436"/>
                </a:solidFill>
              </a:rPr>
              <a:t>圆角矩形
(roundRect)</a:t>
            </a:r>
          </a:p>
        </p:txBody>
      </p:sp>
      <p:pic>
        <p:nvPicPr>
          <p:cNvPr id="11" name="Diamond P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188720"/>
            <a:ext cx="1874519" cy="1874519"/>
          </a:xfrm>
          <a:prstGeom prst="diamond">
            <a:avLst/>
          </a:prstGeom>
          <a:ln w="9525">
            <a:solidFill>
              <a:srgbClr val="E0D0C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709160" y="3136391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3436"/>
                </a:solidFill>
              </a:rPr>
              <a:t>菱形
(diamond)</a:t>
            </a:r>
          </a:p>
        </p:txBody>
      </p:sp>
      <p:pic>
        <p:nvPicPr>
          <p:cNvPr id="13" name="Triangle P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188720"/>
            <a:ext cx="1874519" cy="1874519"/>
          </a:xfrm>
          <a:prstGeom prst="triangle">
            <a:avLst/>
          </a:prstGeom>
          <a:ln w="9525">
            <a:solidFill>
              <a:srgbClr val="E0D0C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858000" y="3136391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3436"/>
                </a:solidFill>
              </a:rPr>
              <a:t>三角形
(triangle)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57600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💡 上方 4 种形状裁剪使用不同的 prstGeom 预设:</a:t>
            </a:r>
          </a:p>
          <a:p>
            <a:r>
              <a:rPr sz="900">
                <a:solidFill>
                  <a:srgbClr val="7F8C8D"/>
                </a:solidFill>
              </a:rPr>
              <a:t>ellipse → clip-path: ellipse() | roundRect → border-radius | diamond → clip-path: polygon() | triangle → clip-path: polygon()</a:t>
            </a:r>
          </a:p>
          <a:p>
            <a:r>
              <a:rPr sz="900" b="1">
                <a:solidFill>
                  <a:srgbClr val="E8651A"/>
                </a:solidFill>
              </a:rPr>
              <a:t>当 clip.shape 功能实现后，图片应被裁剪为对应形状而非默认矩形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986737"/>
              </p:ext>
            </p:extLst>
          </p:nvPr>
        </p:nvGraphicFramePr>
        <p:xfrm>
          <a:off x="502920" y="411480"/>
          <a:ext cx="8138160" cy="4320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A3FD4-B900-B528-32DF-316BAFE16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C157EF9-1579-C7F0-4DC7-C8A1B448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42438"/>
              </p:ext>
            </p:extLst>
          </p:nvPr>
        </p:nvGraphicFramePr>
        <p:xfrm>
          <a:off x="502920" y="411480"/>
          <a:ext cx="8138160" cy="4320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69092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163D2-826E-AD17-924B-AF86D2471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34">
            <a:extLst>
              <a:ext uri="{FF2B5EF4-FFF2-40B4-BE49-F238E27FC236}">
                <a16:creationId xmlns:a16="http://schemas.microsoft.com/office/drawing/2014/main" id="{A1F34356-74F2-772B-6AB6-E6D2FA7671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4690491"/>
              </p:ext>
            </p:extLst>
          </p:nvPr>
        </p:nvGraphicFramePr>
        <p:xfrm>
          <a:off x="635431" y="278970"/>
          <a:ext cx="7857641" cy="4597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86121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258420"/>
              </p:ext>
            </p:extLst>
          </p:nvPr>
        </p:nvGraphicFramePr>
        <p:xfrm>
          <a:off x="502920" y="411480"/>
          <a:ext cx="8138160" cy="4320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4D1ED-BD17-11AD-6087-3B0D5786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3">
            <a:extLst>
              <a:ext uri="{FF2B5EF4-FFF2-40B4-BE49-F238E27FC236}">
                <a16:creationId xmlns:a16="http://schemas.microsoft.com/office/drawing/2014/main" id="{6A11FF0A-61E9-DA4D-7AAB-9D7F917EC294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5140909"/>
              </p:ext>
            </p:extLst>
          </p:nvPr>
        </p:nvGraphicFramePr>
        <p:xfrm>
          <a:off x="3740308" y="1132045"/>
          <a:ext cx="4580732" cy="31919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图表 24">
            <a:extLst>
              <a:ext uri="{FF2B5EF4-FFF2-40B4-BE49-F238E27FC236}">
                <a16:creationId xmlns:a16="http://schemas.microsoft.com/office/drawing/2014/main" id="{5E561DDB-1895-67E1-73B5-7B92CACD07E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83567150"/>
              </p:ext>
            </p:extLst>
          </p:nvPr>
        </p:nvGraphicFramePr>
        <p:xfrm>
          <a:off x="609600" y="1132046"/>
          <a:ext cx="3047793" cy="3191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69139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633680"/>
              </p:ext>
            </p:extLst>
          </p:nvPr>
        </p:nvGraphicFramePr>
        <p:xfrm>
          <a:off x="502920" y="411480"/>
          <a:ext cx="8138160" cy="4320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7B430-EE66-D6E8-27BA-8952CDC9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1">
            <a:extLst>
              <a:ext uri="{FF2B5EF4-FFF2-40B4-BE49-F238E27FC236}">
                <a16:creationId xmlns:a16="http://schemas.microsoft.com/office/drawing/2014/main" id="{E94AE307-3753-663D-D239-DBE6AD234C06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9020734"/>
              </p:ext>
            </p:extLst>
          </p:nvPr>
        </p:nvGraphicFramePr>
        <p:xfrm>
          <a:off x="733730" y="511444"/>
          <a:ext cx="7883328" cy="4095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25791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969398"/>
              </p:ext>
            </p:extLst>
          </p:nvPr>
        </p:nvGraphicFramePr>
        <p:xfrm>
          <a:off x="502920" y="193964"/>
          <a:ext cx="8138160" cy="4538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668507"/>
              </p:ext>
            </p:extLst>
          </p:nvPr>
        </p:nvGraphicFramePr>
        <p:xfrm>
          <a:off x="548640" y="1496290"/>
          <a:ext cx="8046720" cy="3144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8F68A8C-B843-7B68-125D-D1877ED6DFD2}"/>
              </a:ext>
            </a:extLst>
          </p:cNvPr>
          <p:cNvSpPr txBox="1"/>
          <p:nvPr/>
        </p:nvSpPr>
        <p:spPr>
          <a:xfrm>
            <a:off x="3170815" y="502921"/>
            <a:ext cx="2537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Basic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Line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Chart</a:t>
            </a:r>
            <a:endParaRPr lang="en-C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564336"/>
              </p:ext>
            </p:extLst>
          </p:nvPr>
        </p:nvGraphicFramePr>
        <p:xfrm>
          <a:off x="548640" y="1302326"/>
          <a:ext cx="8046720" cy="33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2D7D535-E33C-2B4D-97A6-9B556B3FB95A}"/>
              </a:ext>
            </a:extLst>
          </p:cNvPr>
          <p:cNvSpPr txBox="1"/>
          <p:nvPr/>
        </p:nvSpPr>
        <p:spPr>
          <a:xfrm>
            <a:off x="3170815" y="502921"/>
            <a:ext cx="2625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Basic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Area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Chart</a:t>
            </a:r>
            <a:endParaRPr lang="en-C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226338"/>
              </p:ext>
            </p:extLst>
          </p:nvPr>
        </p:nvGraphicFramePr>
        <p:xfrm>
          <a:off x="548640" y="1274618"/>
          <a:ext cx="8046720" cy="336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2B991E1-F3B6-1E50-A92B-C2A1B840DE47}"/>
              </a:ext>
            </a:extLst>
          </p:cNvPr>
          <p:cNvSpPr txBox="1"/>
          <p:nvPr/>
        </p:nvSpPr>
        <p:spPr>
          <a:xfrm>
            <a:off x="3170815" y="502921"/>
            <a:ext cx="29678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Basic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Scatter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Chart</a:t>
            </a:r>
            <a:endParaRPr lang="en-C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761413"/>
              </p:ext>
            </p:extLst>
          </p:nvPr>
        </p:nvGraphicFramePr>
        <p:xfrm>
          <a:off x="548640" y="1080654"/>
          <a:ext cx="8046720" cy="3559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CAD2FB3-E93B-5F16-174C-12722FED0256}"/>
              </a:ext>
            </a:extLst>
          </p:cNvPr>
          <p:cNvSpPr txBox="1"/>
          <p:nvPr/>
        </p:nvSpPr>
        <p:spPr>
          <a:xfrm>
            <a:off x="3170815" y="502921"/>
            <a:ext cx="2802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Basic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CN" sz="2800" b="1" dirty="0">
                <a:solidFill>
                  <a:schemeClr val="accent6">
                    <a:lumMod val="75000"/>
                  </a:schemeClr>
                </a:solidFill>
              </a:rPr>
              <a:t>Radar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Chart</a:t>
            </a:r>
            <a:endParaRPr lang="en-C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自定义 14">
    <a:dk1>
      <a:srgbClr val="000000"/>
    </a:dk1>
    <a:lt1>
      <a:srgbClr val="FFFFFF"/>
    </a:lt1>
    <a:dk2>
      <a:srgbClr val="0C0E1F"/>
    </a:dk2>
    <a:lt2>
      <a:srgbClr val="FEFFFF"/>
    </a:lt2>
    <a:accent1>
      <a:srgbClr val="F86696"/>
    </a:accent1>
    <a:accent2>
      <a:srgbClr val="FDAB0D"/>
    </a:accent2>
    <a:accent3>
      <a:srgbClr val="3EBCB8"/>
    </a:accent3>
    <a:accent4>
      <a:srgbClr val="FE7352"/>
    </a:accent4>
    <a:accent5>
      <a:srgbClr val="D2CD32"/>
    </a:accent5>
    <a:accent6>
      <a:srgbClr val="78CFB1"/>
    </a:accent6>
    <a:hlink>
      <a:srgbClr val="304FFE"/>
    </a:hlink>
    <a:folHlink>
      <a:srgbClr val="492067"/>
    </a:folHlink>
  </a:clrScheme>
  <a:fontScheme name="自定义 2">
    <a:majorFont>
      <a:latin typeface="微软雅黑"/>
      <a:ea typeface="微软雅黑"/>
      <a:cs typeface=""/>
    </a:majorFont>
    <a:minorFont>
      <a:latin typeface="微软雅黑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991</Words>
  <Application>Microsoft Macintosh PowerPoint</Application>
  <PresentationFormat>On-screen Show (16:9)</PresentationFormat>
  <Paragraphs>211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a87200</cp:lastModifiedBy>
  <cp:revision>15</cp:revision>
  <dcterms:created xsi:type="dcterms:W3CDTF">2013-01-27T09:14:16Z</dcterms:created>
  <dcterms:modified xsi:type="dcterms:W3CDTF">2026-04-11T11:44:07Z</dcterms:modified>
  <cp:category/>
</cp:coreProperties>
</file>